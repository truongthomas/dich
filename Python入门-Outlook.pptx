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4.xml" ContentType="application/vnd.openxmlformats-officedocument.them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  <p:sldMasterId id="2147483654" r:id="rId2"/>
    <p:sldMasterId id="2147483658" r:id="rId3"/>
    <p:sldMasterId id="2147483663" r:id="rId4"/>
  </p:sldMasterIdLst>
  <p:notesMasterIdLst>
    <p:notesMasterId r:id="rId16"/>
  </p:notesMasterIdLst>
  <p:handoutMasterIdLst>
    <p:handoutMasterId r:id="rId17"/>
  </p:handoutMasterIdLst>
  <p:sldIdLst>
    <p:sldId id="505" r:id="rId5"/>
    <p:sldId id="911" r:id="rId6"/>
    <p:sldId id="912" r:id="rId7"/>
    <p:sldId id="913" r:id="rId8"/>
    <p:sldId id="914" r:id="rId9"/>
    <p:sldId id="915" r:id="rId10"/>
    <p:sldId id="916" r:id="rId11"/>
    <p:sldId id="917" r:id="rId12"/>
    <p:sldId id="919" r:id="rId13"/>
    <p:sldId id="918" r:id="rId14"/>
    <p:sldId id="903" r:id="rId1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8">
          <p15:clr>
            <a:srgbClr val="A4A3A4"/>
          </p15:clr>
        </p15:guide>
        <p15:guide id="2" pos="2922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6E6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860" autoAdjust="0"/>
    <p:restoredTop sz="94660"/>
  </p:normalViewPr>
  <p:slideViewPr>
    <p:cSldViewPr snapToGrid="0">
      <p:cViewPr varScale="1">
        <p:scale>
          <a:sx n="96" d="100"/>
          <a:sy n="96" d="100"/>
        </p:scale>
        <p:origin x="798" y="45"/>
      </p:cViewPr>
      <p:guideLst>
        <p:guide orient="horz" pos="2258"/>
        <p:guide pos="292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TW" altLang="en-US" smtClean="0"/>
              <a:t>2025/07/30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25A8C7-CC1A-4A08-9B4B-31F43B054C7F}" type="datetimeFigureOut">
              <a:rPr lang="zh-CN" altLang="en-US" smtClean="0"/>
              <a:t>2025/7/30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E1B693-632D-4080-9CF6-EA28B66DC80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143000" y="1854199"/>
            <a:ext cx="6858000" cy="1655763"/>
          </a:xfrm>
        </p:spPr>
        <p:txBody>
          <a:bodyPr anchor="b">
            <a:normAutofit/>
          </a:bodyPr>
          <a:lstStyle>
            <a:lvl1pPr algn="ctr">
              <a:defRPr sz="7200" b="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2025/7/30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bg>
      <p:bgPr>
        <a:blipFill rotWithShape="1">
          <a:blip r:embed="rId2">
            <a:alphaModFix amt="21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D7636-5BE1-44BC-BB5F-15739D9E18E1}" type="datetimeFigureOut">
              <a:rPr lang="zh-CN" altLang="en-US" smtClean="0"/>
              <a:t>2025/7/30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C0E1D-24C4-406F-9615-DBDA8D2D1F9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3" hasCustomPrompt="1"/>
          </p:nvPr>
        </p:nvSpPr>
        <p:spPr>
          <a:xfrm>
            <a:off x="392113" y="948743"/>
            <a:ext cx="7094537" cy="544391"/>
          </a:xfr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3" name="内容占位符 12"/>
          <p:cNvSpPr>
            <a:spLocks noGrp="1"/>
          </p:cNvSpPr>
          <p:nvPr>
            <p:ph sz="quarter" idx="14" hasCustomPrompt="1"/>
          </p:nvPr>
        </p:nvSpPr>
        <p:spPr>
          <a:xfrm>
            <a:off x="628650" y="1863725"/>
            <a:ext cx="7886700" cy="40449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grpSp>
        <p:nvGrpSpPr>
          <p:cNvPr id="5" name="组合 5"/>
          <p:cNvGrpSpPr/>
          <p:nvPr userDrawn="1"/>
        </p:nvGrpSpPr>
        <p:grpSpPr>
          <a:xfrm>
            <a:off x="-1906" y="2641"/>
            <a:ext cx="9145787" cy="718411"/>
            <a:chOff x="-1" y="190175"/>
            <a:chExt cx="9145786" cy="525795"/>
          </a:xfrm>
        </p:grpSpPr>
        <p:sp>
          <p:nvSpPr>
            <p:cNvPr id="10" name="任意多边形 4"/>
            <p:cNvSpPr/>
            <p:nvPr/>
          </p:nvSpPr>
          <p:spPr>
            <a:xfrm>
              <a:off x="1" y="190175"/>
              <a:ext cx="9143999" cy="490975"/>
            </a:xfrm>
            <a:custGeom>
              <a:avLst/>
              <a:gdLst>
                <a:gd name="connsiteX0" fmla="*/ 0 w 12191999"/>
                <a:gd name="connsiteY0" fmla="*/ 0 h 647700"/>
                <a:gd name="connsiteX1" fmla="*/ 12191999 w 12191999"/>
                <a:gd name="connsiteY1" fmla="*/ 0 h 647700"/>
                <a:gd name="connsiteX2" fmla="*/ 12191999 w 12191999"/>
                <a:gd name="connsiteY2" fmla="*/ 4171 h 647700"/>
                <a:gd name="connsiteX3" fmla="*/ 8600846 w 12191999"/>
                <a:gd name="connsiteY3" fmla="*/ 4171 h 647700"/>
                <a:gd name="connsiteX4" fmla="*/ 8223451 w 12191999"/>
                <a:gd name="connsiteY4" fmla="*/ 647700 h 647700"/>
                <a:gd name="connsiteX5" fmla="*/ 0 w 12191999"/>
                <a:gd name="connsiteY5" fmla="*/ 647700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1999" h="647700">
                  <a:moveTo>
                    <a:pt x="0" y="0"/>
                  </a:moveTo>
                  <a:lnTo>
                    <a:pt x="12191999" y="0"/>
                  </a:lnTo>
                  <a:lnTo>
                    <a:pt x="12191999" y="4171"/>
                  </a:lnTo>
                  <a:lnTo>
                    <a:pt x="8600846" y="4171"/>
                  </a:lnTo>
                  <a:lnTo>
                    <a:pt x="8223451" y="647700"/>
                  </a:lnTo>
                  <a:lnTo>
                    <a:pt x="0" y="647700"/>
                  </a:lnTo>
                  <a:close/>
                </a:path>
              </a:pathLst>
            </a:cu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  <p:sp>
          <p:nvSpPr>
            <p:cNvPr id="12" name="任意多边形 5"/>
            <p:cNvSpPr/>
            <p:nvPr/>
          </p:nvSpPr>
          <p:spPr>
            <a:xfrm>
              <a:off x="-1" y="191961"/>
              <a:ext cx="9144000" cy="524009"/>
            </a:xfrm>
            <a:custGeom>
              <a:avLst/>
              <a:gdLst>
                <a:gd name="connsiteX0" fmla="*/ 8649011 w 12192000"/>
                <a:gd name="connsiteY0" fmla="*/ 0 h 698678"/>
                <a:gd name="connsiteX1" fmla="*/ 12192000 w 12192000"/>
                <a:gd name="connsiteY1" fmla="*/ 0 h 698678"/>
                <a:gd name="connsiteX2" fmla="*/ 12192000 w 12192000"/>
                <a:gd name="connsiteY2" fmla="*/ 45719 h 698678"/>
                <a:gd name="connsiteX3" fmla="*/ 8689612 w 12192000"/>
                <a:gd name="connsiteY3" fmla="*/ 45719 h 698678"/>
                <a:gd name="connsiteX4" fmla="*/ 8309954 w 12192000"/>
                <a:gd name="connsiteY4" fmla="*/ 698678 h 698678"/>
                <a:gd name="connsiteX5" fmla="*/ 8149486 w 12192000"/>
                <a:gd name="connsiteY5" fmla="*/ 698678 h 698678"/>
                <a:gd name="connsiteX6" fmla="*/ 8149901 w 12192000"/>
                <a:gd name="connsiteY6" fmla="*/ 697970 h 698678"/>
                <a:gd name="connsiteX7" fmla="*/ 0 w 12192000"/>
                <a:gd name="connsiteY7" fmla="*/ 697970 h 698678"/>
                <a:gd name="connsiteX8" fmla="*/ 0 w 12192000"/>
                <a:gd name="connsiteY8" fmla="*/ 652251 h 698678"/>
                <a:gd name="connsiteX9" fmla="*/ 8176713 w 12192000"/>
                <a:gd name="connsiteY9" fmla="*/ 652251 h 698678"/>
                <a:gd name="connsiteX10" fmla="*/ 8557764 w 12192000"/>
                <a:gd name="connsiteY10" fmla="*/ 2487 h 698678"/>
                <a:gd name="connsiteX11" fmla="*/ 8649011 w 12192000"/>
                <a:gd name="connsiteY11" fmla="*/ 2487 h 698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92000" h="698678">
                  <a:moveTo>
                    <a:pt x="8649011" y="0"/>
                  </a:moveTo>
                  <a:lnTo>
                    <a:pt x="12192000" y="0"/>
                  </a:lnTo>
                  <a:lnTo>
                    <a:pt x="12192000" y="45719"/>
                  </a:lnTo>
                  <a:lnTo>
                    <a:pt x="8689612" y="45719"/>
                  </a:lnTo>
                  <a:lnTo>
                    <a:pt x="8309954" y="698678"/>
                  </a:lnTo>
                  <a:lnTo>
                    <a:pt x="8149486" y="698678"/>
                  </a:lnTo>
                  <a:lnTo>
                    <a:pt x="8149901" y="697970"/>
                  </a:lnTo>
                  <a:lnTo>
                    <a:pt x="0" y="697970"/>
                  </a:lnTo>
                  <a:lnTo>
                    <a:pt x="0" y="652251"/>
                  </a:lnTo>
                  <a:lnTo>
                    <a:pt x="8176713" y="652251"/>
                  </a:lnTo>
                  <a:lnTo>
                    <a:pt x="8557764" y="2487"/>
                  </a:lnTo>
                  <a:lnTo>
                    <a:pt x="8649011" y="2487"/>
                  </a:lnTo>
                  <a:close/>
                </a:path>
              </a:pathLst>
            </a:cu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  <p:sp>
          <p:nvSpPr>
            <p:cNvPr id="16" name="任意多边形 6"/>
            <p:cNvSpPr/>
            <p:nvPr/>
          </p:nvSpPr>
          <p:spPr>
            <a:xfrm>
              <a:off x="6231369" y="228409"/>
              <a:ext cx="2914416" cy="485775"/>
            </a:xfrm>
            <a:custGeom>
              <a:avLst/>
              <a:gdLst>
                <a:gd name="connsiteX0" fmla="*/ 379841 w 3885888"/>
                <a:gd name="connsiteY0" fmla="*/ 0 h 647700"/>
                <a:gd name="connsiteX1" fmla="*/ 3885888 w 3885888"/>
                <a:gd name="connsiteY1" fmla="*/ 0 h 647700"/>
                <a:gd name="connsiteX2" fmla="*/ 3885888 w 3885888"/>
                <a:gd name="connsiteY2" fmla="*/ 647700 h 647700"/>
                <a:gd name="connsiteX3" fmla="*/ 0 w 3885888"/>
                <a:gd name="connsiteY3" fmla="*/ 647700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5888" h="647700">
                  <a:moveTo>
                    <a:pt x="379841" y="0"/>
                  </a:moveTo>
                  <a:lnTo>
                    <a:pt x="3885888" y="0"/>
                  </a:lnTo>
                  <a:lnTo>
                    <a:pt x="3885888" y="647700"/>
                  </a:lnTo>
                  <a:lnTo>
                    <a:pt x="0" y="647700"/>
                  </a:lnTo>
                  <a:close/>
                </a:path>
              </a:pathLst>
            </a:cu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</p:grpSp>
      <p:sp>
        <p:nvSpPr>
          <p:cNvPr id="17" name="矩形 16"/>
          <p:cNvSpPr/>
          <p:nvPr userDrawn="1"/>
        </p:nvSpPr>
        <p:spPr>
          <a:xfrm>
            <a:off x="0" y="6123215"/>
            <a:ext cx="9144000" cy="54614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18" name="矩形 17"/>
          <p:cNvSpPr/>
          <p:nvPr userDrawn="1"/>
        </p:nvSpPr>
        <p:spPr>
          <a:xfrm>
            <a:off x="0" y="6669360"/>
            <a:ext cx="9144000" cy="18864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2025/7/30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0" y="1997136"/>
            <a:ext cx="7084431" cy="1791128"/>
            <a:chOff x="-1" y="2037922"/>
            <a:chExt cx="12192763" cy="1791128"/>
          </a:xfrm>
        </p:grpSpPr>
        <p:sp>
          <p:nvSpPr>
            <p:cNvPr id="6" name="矩形 5"/>
            <p:cNvSpPr/>
            <p:nvPr/>
          </p:nvSpPr>
          <p:spPr>
            <a:xfrm>
              <a:off x="762" y="2038350"/>
              <a:ext cx="12192000" cy="17907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762" y="2037922"/>
              <a:ext cx="12192000" cy="720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-1" y="3752264"/>
              <a:ext cx="12192000" cy="720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391"/>
          <a:stretch>
            <a:fillRect/>
          </a:stretch>
        </p:blipFill>
        <p:spPr>
          <a:xfrm flipH="1">
            <a:off x="6143625" y="0"/>
            <a:ext cx="3000375" cy="6858000"/>
          </a:xfrm>
          <a:prstGeom prst="rect">
            <a:avLst/>
          </a:prstGeom>
        </p:spPr>
      </p:pic>
      <p:sp>
        <p:nvSpPr>
          <p:cNvPr id="10" name="文本框 5"/>
          <p:cNvSpPr txBox="1"/>
          <p:nvPr userDrawn="1"/>
        </p:nvSpPr>
        <p:spPr>
          <a:xfrm>
            <a:off x="1371600" y="2328817"/>
            <a:ext cx="418576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7200" spc="600" dirty="0">
                <a:solidFill>
                  <a:schemeClr val="bg1"/>
                </a:solidFill>
              </a:rPr>
              <a:t>感谢聆听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占位符 7"/>
          <p:cNvSpPr>
            <a:spLocks noGrp="1"/>
          </p:cNvSpPr>
          <p:nvPr>
            <p:ph type="pic" sz="quarter" idx="13"/>
          </p:nvPr>
        </p:nvSpPr>
        <p:spPr>
          <a:xfrm>
            <a:off x="1328737" y="1277273"/>
            <a:ext cx="2171700" cy="3243933"/>
          </a:xfrm>
          <a:custGeom>
            <a:avLst/>
            <a:gdLst>
              <a:gd name="connsiteX0" fmla="*/ 1447800 w 2895600"/>
              <a:gd name="connsiteY0" fmla="*/ 0 h 3243933"/>
              <a:gd name="connsiteX1" fmla="*/ 1595195 w 2895600"/>
              <a:gd name="connsiteY1" fmla="*/ 33860 h 3243933"/>
              <a:gd name="connsiteX2" fmla="*/ 2748205 w 2895600"/>
              <a:gd name="connsiteY2" fmla="*/ 699160 h 3243933"/>
              <a:gd name="connsiteX3" fmla="*/ 2895600 w 2895600"/>
              <a:gd name="connsiteY3" fmla="*/ 955776 h 3243933"/>
              <a:gd name="connsiteX4" fmla="*/ 2895600 w 2895600"/>
              <a:gd name="connsiteY4" fmla="*/ 2286376 h 3243933"/>
              <a:gd name="connsiteX5" fmla="*/ 2748205 w 2895600"/>
              <a:gd name="connsiteY5" fmla="*/ 2542992 h 3243933"/>
              <a:gd name="connsiteX6" fmla="*/ 1595195 w 2895600"/>
              <a:gd name="connsiteY6" fmla="*/ 3208293 h 3243933"/>
              <a:gd name="connsiteX7" fmla="*/ 1300405 w 2895600"/>
              <a:gd name="connsiteY7" fmla="*/ 3208293 h 3243933"/>
              <a:gd name="connsiteX8" fmla="*/ 147395 w 2895600"/>
              <a:gd name="connsiteY8" fmla="*/ 2542992 h 3243933"/>
              <a:gd name="connsiteX9" fmla="*/ 0 w 2895600"/>
              <a:gd name="connsiteY9" fmla="*/ 2286376 h 3243933"/>
              <a:gd name="connsiteX10" fmla="*/ 0 w 2895600"/>
              <a:gd name="connsiteY10" fmla="*/ 955776 h 3243933"/>
              <a:gd name="connsiteX11" fmla="*/ 147395 w 2895600"/>
              <a:gd name="connsiteY11" fmla="*/ 699160 h 3243933"/>
              <a:gd name="connsiteX12" fmla="*/ 1300405 w 2895600"/>
              <a:gd name="connsiteY12" fmla="*/ 33860 h 3243933"/>
              <a:gd name="connsiteX13" fmla="*/ 1447800 w 2895600"/>
              <a:gd name="connsiteY13" fmla="*/ 0 h 324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895600" h="3243933">
                <a:moveTo>
                  <a:pt x="1447800" y="0"/>
                </a:moveTo>
                <a:cubicBezTo>
                  <a:pt x="1501290" y="0"/>
                  <a:pt x="1554780" y="11287"/>
                  <a:pt x="1595195" y="33860"/>
                </a:cubicBezTo>
                <a:cubicBezTo>
                  <a:pt x="2748205" y="699160"/>
                  <a:pt x="2748205" y="699160"/>
                  <a:pt x="2748205" y="699160"/>
                </a:cubicBezTo>
                <a:cubicBezTo>
                  <a:pt x="2829035" y="746681"/>
                  <a:pt x="2895600" y="863109"/>
                  <a:pt x="2895600" y="955776"/>
                </a:cubicBezTo>
                <a:cubicBezTo>
                  <a:pt x="2895600" y="2286376"/>
                  <a:pt x="2895600" y="2286376"/>
                  <a:pt x="2895600" y="2286376"/>
                </a:cubicBezTo>
                <a:cubicBezTo>
                  <a:pt x="2895600" y="2381419"/>
                  <a:pt x="2829035" y="2495471"/>
                  <a:pt x="2748205" y="2542992"/>
                </a:cubicBezTo>
                <a:cubicBezTo>
                  <a:pt x="1595195" y="3208293"/>
                  <a:pt x="1595195" y="3208293"/>
                  <a:pt x="1595195" y="3208293"/>
                </a:cubicBezTo>
                <a:cubicBezTo>
                  <a:pt x="1514366" y="3255814"/>
                  <a:pt x="1381235" y="3255814"/>
                  <a:pt x="1300405" y="3208293"/>
                </a:cubicBezTo>
                <a:cubicBezTo>
                  <a:pt x="147395" y="2542992"/>
                  <a:pt x="147395" y="2542992"/>
                  <a:pt x="147395" y="2542992"/>
                </a:cubicBezTo>
                <a:cubicBezTo>
                  <a:pt x="66566" y="2495471"/>
                  <a:pt x="0" y="2381419"/>
                  <a:pt x="0" y="2286376"/>
                </a:cubicBezTo>
                <a:lnTo>
                  <a:pt x="0" y="955776"/>
                </a:lnTo>
                <a:cubicBezTo>
                  <a:pt x="0" y="863109"/>
                  <a:pt x="66566" y="746681"/>
                  <a:pt x="147395" y="699160"/>
                </a:cubicBezTo>
                <a:cubicBezTo>
                  <a:pt x="1300405" y="33860"/>
                  <a:pt x="1300405" y="33860"/>
                  <a:pt x="1300405" y="33860"/>
                </a:cubicBezTo>
                <a:cubicBezTo>
                  <a:pt x="1340820" y="11287"/>
                  <a:pt x="1394310" y="0"/>
                  <a:pt x="14478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E4E7C-442E-4252-8F73-431B51547955}" type="datetimeFigureOut">
              <a:rPr lang="zh-CN" altLang="en-US" smtClean="0"/>
              <a:t>2025/7/30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74968-826C-4EDC-B75A-CA0618E1F6B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143000" y="1854199"/>
            <a:ext cx="6858000" cy="1655763"/>
          </a:xfrm>
        </p:spPr>
        <p:txBody>
          <a:bodyPr anchor="b">
            <a:normAutofit/>
          </a:bodyPr>
          <a:lstStyle>
            <a:lvl1pPr algn="ctr">
              <a:defRPr sz="7200" b="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  <a:t>2025/7/30</a:t>
            </a:fld>
            <a:endParaRPr lang="zh-CN" altLang="en-US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  <a:t>‹#›</a:t>
            </a:fld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  <a:t>2025/7/30</a:t>
            </a:fld>
            <a:endParaRPr lang="zh-CN" altLang="en-US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  <a:t>‹#›</a:t>
            </a:fld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690257" y="854039"/>
            <a:ext cx="7832784" cy="781051"/>
            <a:chOff x="3725790" y="847725"/>
            <a:chExt cx="3730770" cy="781050"/>
          </a:xfrm>
        </p:grpSpPr>
        <p:grpSp>
          <p:nvGrpSpPr>
            <p:cNvPr id="10" name="组合 9"/>
            <p:cNvGrpSpPr/>
            <p:nvPr/>
          </p:nvGrpSpPr>
          <p:grpSpPr>
            <a:xfrm>
              <a:off x="3725790" y="1019175"/>
              <a:ext cx="627135" cy="609600"/>
              <a:chOff x="3725790" y="1019175"/>
              <a:chExt cx="627135" cy="609600"/>
            </a:xfrm>
          </p:grpSpPr>
          <p:sp>
            <p:nvSpPr>
              <p:cNvPr id="15" name="任意多边形 11"/>
              <p:cNvSpPr/>
              <p:nvPr/>
            </p:nvSpPr>
            <p:spPr>
              <a:xfrm>
                <a:off x="3725790" y="1019175"/>
                <a:ext cx="627135" cy="609600"/>
              </a:xfrm>
              <a:custGeom>
                <a:avLst/>
                <a:gdLst>
                  <a:gd name="connsiteX0" fmla="*/ 0 w 627135"/>
                  <a:gd name="connsiteY0" fmla="*/ 0 h 609600"/>
                  <a:gd name="connsiteX1" fmla="*/ 627135 w 627135"/>
                  <a:gd name="connsiteY1" fmla="*/ 0 h 609600"/>
                  <a:gd name="connsiteX2" fmla="*/ 627135 w 627135"/>
                  <a:gd name="connsiteY2" fmla="*/ 609600 h 609600"/>
                  <a:gd name="connsiteX3" fmla="*/ 1783 w 627135"/>
                  <a:gd name="connsiteY3" fmla="*/ 609600 h 609600"/>
                  <a:gd name="connsiteX4" fmla="*/ 305666 w 627135"/>
                  <a:gd name="connsiteY4" fmla="*/ 300804 h 609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27135" h="609600">
                    <a:moveTo>
                      <a:pt x="0" y="0"/>
                    </a:moveTo>
                    <a:lnTo>
                      <a:pt x="627135" y="0"/>
                    </a:lnTo>
                    <a:lnTo>
                      <a:pt x="627135" y="609600"/>
                    </a:lnTo>
                    <a:lnTo>
                      <a:pt x="1783" y="609600"/>
                    </a:lnTo>
                    <a:lnTo>
                      <a:pt x="305666" y="30080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6" name="直角三角形 15"/>
              <p:cNvSpPr/>
              <p:nvPr/>
            </p:nvSpPr>
            <p:spPr>
              <a:xfrm rot="5400000" flipV="1">
                <a:off x="4181475" y="1457325"/>
                <a:ext cx="171450" cy="171450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11" name="组合 10"/>
            <p:cNvGrpSpPr/>
            <p:nvPr/>
          </p:nvGrpSpPr>
          <p:grpSpPr>
            <a:xfrm flipH="1">
              <a:off x="6829425" y="1019175"/>
              <a:ext cx="627135" cy="609600"/>
              <a:chOff x="3725790" y="1019175"/>
              <a:chExt cx="627135" cy="609600"/>
            </a:xfrm>
          </p:grpSpPr>
          <p:sp>
            <p:nvSpPr>
              <p:cNvPr id="13" name="任意多边形 9"/>
              <p:cNvSpPr/>
              <p:nvPr/>
            </p:nvSpPr>
            <p:spPr>
              <a:xfrm>
                <a:off x="3725790" y="1019175"/>
                <a:ext cx="627135" cy="609600"/>
              </a:xfrm>
              <a:custGeom>
                <a:avLst/>
                <a:gdLst>
                  <a:gd name="connsiteX0" fmla="*/ 0 w 627135"/>
                  <a:gd name="connsiteY0" fmla="*/ 0 h 609600"/>
                  <a:gd name="connsiteX1" fmla="*/ 627135 w 627135"/>
                  <a:gd name="connsiteY1" fmla="*/ 0 h 609600"/>
                  <a:gd name="connsiteX2" fmla="*/ 627135 w 627135"/>
                  <a:gd name="connsiteY2" fmla="*/ 609600 h 609600"/>
                  <a:gd name="connsiteX3" fmla="*/ 1783 w 627135"/>
                  <a:gd name="connsiteY3" fmla="*/ 609600 h 609600"/>
                  <a:gd name="connsiteX4" fmla="*/ 305666 w 627135"/>
                  <a:gd name="connsiteY4" fmla="*/ 300804 h 609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27135" h="609600">
                    <a:moveTo>
                      <a:pt x="0" y="0"/>
                    </a:moveTo>
                    <a:lnTo>
                      <a:pt x="627135" y="0"/>
                    </a:lnTo>
                    <a:lnTo>
                      <a:pt x="627135" y="609600"/>
                    </a:lnTo>
                    <a:lnTo>
                      <a:pt x="1783" y="609600"/>
                    </a:lnTo>
                    <a:lnTo>
                      <a:pt x="305666" y="30080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4" name="直角三角形 13"/>
              <p:cNvSpPr/>
              <p:nvPr/>
            </p:nvSpPr>
            <p:spPr>
              <a:xfrm rot="5400000" flipV="1">
                <a:off x="4181475" y="1457325"/>
                <a:ext cx="171450" cy="171450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12" name="矩形 11"/>
            <p:cNvSpPr/>
            <p:nvPr/>
          </p:nvSpPr>
          <p:spPr>
            <a:xfrm>
              <a:off x="4181475" y="847725"/>
              <a:ext cx="2819400" cy="6096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</p:grpSp>
      <p:grpSp>
        <p:nvGrpSpPr>
          <p:cNvPr id="17" name="组合 16"/>
          <p:cNvGrpSpPr/>
          <p:nvPr userDrawn="1"/>
        </p:nvGrpSpPr>
        <p:grpSpPr>
          <a:xfrm>
            <a:off x="1754535" y="2048547"/>
            <a:ext cx="5693399" cy="415498"/>
            <a:chOff x="1807265" y="2462595"/>
            <a:chExt cx="5693399" cy="415498"/>
          </a:xfrm>
          <a:solidFill>
            <a:schemeClr val="bg2"/>
          </a:solidFill>
        </p:grpSpPr>
        <p:sp>
          <p:nvSpPr>
            <p:cNvPr id="18" name="圆角矩形 46"/>
            <p:cNvSpPr/>
            <p:nvPr/>
          </p:nvSpPr>
          <p:spPr>
            <a:xfrm>
              <a:off x="1807265" y="2478527"/>
              <a:ext cx="5693399" cy="394154"/>
            </a:xfrm>
            <a:prstGeom prst="roundRect">
              <a:avLst>
                <a:gd name="adj" fmla="val 20658"/>
              </a:avLst>
            </a:prstGeom>
            <a:grpFill/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srgbClr val="FFFFFF"/>
                </a:solidFill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1883286" y="2462595"/>
              <a:ext cx="3007662" cy="415498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endParaRPr lang="zh-CN" altLang="en-US" sz="2100" spc="225" dirty="0">
                <a:solidFill>
                  <a:srgbClr val="FFFFFF"/>
                </a:solidFill>
                <a:latin typeface="Microsoft YaHei" panose="020B0503020204020204" pitchFamily="34" charset="-122"/>
              </a:endParaRPr>
            </a:p>
          </p:txBody>
        </p:sp>
      </p:grpSp>
      <p:grpSp>
        <p:nvGrpSpPr>
          <p:cNvPr id="20" name="组合 19"/>
          <p:cNvGrpSpPr/>
          <p:nvPr userDrawn="1"/>
        </p:nvGrpSpPr>
        <p:grpSpPr>
          <a:xfrm>
            <a:off x="1754535" y="2753555"/>
            <a:ext cx="5693399" cy="426278"/>
            <a:chOff x="1807265" y="2935089"/>
            <a:chExt cx="5693399" cy="426278"/>
          </a:xfrm>
        </p:grpSpPr>
        <p:sp>
          <p:nvSpPr>
            <p:cNvPr id="21" name="圆角矩形 48"/>
            <p:cNvSpPr/>
            <p:nvPr/>
          </p:nvSpPr>
          <p:spPr>
            <a:xfrm>
              <a:off x="1807265" y="2935089"/>
              <a:ext cx="5693399" cy="394200"/>
            </a:xfrm>
            <a:prstGeom prst="roundRect">
              <a:avLst>
                <a:gd name="adj" fmla="val 20658"/>
              </a:avLst>
            </a:prstGeom>
            <a:solidFill>
              <a:srgbClr val="E6E6E6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srgbClr val="FFFFFF"/>
                </a:solidFill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1881814" y="2945869"/>
              <a:ext cx="184731" cy="41549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2100" spc="225" dirty="0">
                <a:solidFill>
                  <a:srgbClr val="000000">
                    <a:lumMod val="75000"/>
                    <a:lumOff val="25000"/>
                  </a:srgbClr>
                </a:solidFill>
                <a:latin typeface="Microsoft YaHei" panose="020B0503020204020204" pitchFamily="34" charset="-122"/>
              </a:endParaRPr>
            </a:p>
          </p:txBody>
        </p:sp>
      </p:grpSp>
      <p:grpSp>
        <p:nvGrpSpPr>
          <p:cNvPr id="23" name="组合 22"/>
          <p:cNvGrpSpPr/>
          <p:nvPr userDrawn="1"/>
        </p:nvGrpSpPr>
        <p:grpSpPr>
          <a:xfrm>
            <a:off x="1754535" y="3469343"/>
            <a:ext cx="5693399" cy="426278"/>
            <a:chOff x="1807265" y="3400693"/>
            <a:chExt cx="5693399" cy="426278"/>
          </a:xfrm>
        </p:grpSpPr>
        <p:sp>
          <p:nvSpPr>
            <p:cNvPr id="24" name="圆角矩形 50"/>
            <p:cNvSpPr/>
            <p:nvPr/>
          </p:nvSpPr>
          <p:spPr>
            <a:xfrm>
              <a:off x="1807265" y="3400693"/>
              <a:ext cx="5693399" cy="394200"/>
            </a:xfrm>
            <a:prstGeom prst="roundRect">
              <a:avLst>
                <a:gd name="adj" fmla="val 20658"/>
              </a:avLst>
            </a:prstGeom>
            <a:solidFill>
              <a:srgbClr val="E6E6E6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srgbClr val="FFFFFF"/>
                </a:solidFill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1881814" y="3411473"/>
              <a:ext cx="184731" cy="41549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2100" spc="225" dirty="0">
                <a:solidFill>
                  <a:srgbClr val="000000">
                    <a:lumMod val="75000"/>
                    <a:lumOff val="25000"/>
                  </a:srgbClr>
                </a:solidFill>
                <a:latin typeface="Microsoft YaHei" panose="020B0503020204020204" pitchFamily="34" charset="-122"/>
              </a:endParaRPr>
            </a:p>
          </p:txBody>
        </p:sp>
      </p:grpSp>
      <p:grpSp>
        <p:nvGrpSpPr>
          <p:cNvPr id="26" name="组合 25"/>
          <p:cNvGrpSpPr/>
          <p:nvPr userDrawn="1"/>
        </p:nvGrpSpPr>
        <p:grpSpPr>
          <a:xfrm>
            <a:off x="1754535" y="4185131"/>
            <a:ext cx="5693399" cy="426279"/>
            <a:chOff x="1807265" y="3866296"/>
            <a:chExt cx="5693399" cy="426279"/>
          </a:xfrm>
        </p:grpSpPr>
        <p:sp>
          <p:nvSpPr>
            <p:cNvPr id="27" name="圆角矩形 52"/>
            <p:cNvSpPr/>
            <p:nvPr/>
          </p:nvSpPr>
          <p:spPr>
            <a:xfrm>
              <a:off x="1807265" y="3866296"/>
              <a:ext cx="5693399" cy="394200"/>
            </a:xfrm>
            <a:prstGeom prst="roundRect">
              <a:avLst>
                <a:gd name="adj" fmla="val 20658"/>
              </a:avLst>
            </a:prstGeom>
            <a:solidFill>
              <a:srgbClr val="E6E6E6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srgbClr val="FFFFFF"/>
                </a:solidFill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1881814" y="3877077"/>
              <a:ext cx="184731" cy="41549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2100" spc="225" dirty="0">
                <a:solidFill>
                  <a:srgbClr val="000000">
                    <a:lumMod val="75000"/>
                    <a:lumOff val="25000"/>
                  </a:srgbClr>
                </a:solidFill>
                <a:latin typeface="Microsoft YaHei" panose="020B0503020204020204" pitchFamily="34" charset="-122"/>
              </a:endParaRPr>
            </a:p>
          </p:txBody>
        </p:sp>
      </p:grpSp>
      <p:sp>
        <p:nvSpPr>
          <p:cNvPr id="29" name="圆角矩形 42"/>
          <p:cNvSpPr/>
          <p:nvPr userDrawn="1"/>
        </p:nvSpPr>
        <p:spPr>
          <a:xfrm>
            <a:off x="1765367" y="4900919"/>
            <a:ext cx="5693399" cy="394200"/>
          </a:xfrm>
          <a:prstGeom prst="roundRect">
            <a:avLst>
              <a:gd name="adj" fmla="val 20658"/>
            </a:avLst>
          </a:prstGeom>
          <a:solidFill>
            <a:srgbClr val="E6E6E6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1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 </a:t>
            </a:r>
            <a:endParaRPr lang="zh-CN" altLang="en-US" sz="2100" dirty="0">
              <a:solidFill>
                <a:srgbClr val="00000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30" name="圆角矩形 1"/>
          <p:cNvSpPr/>
          <p:nvPr userDrawn="1"/>
        </p:nvSpPr>
        <p:spPr>
          <a:xfrm>
            <a:off x="1784416" y="5511788"/>
            <a:ext cx="5693399" cy="394200"/>
          </a:xfrm>
          <a:prstGeom prst="roundRect">
            <a:avLst>
              <a:gd name="adj" fmla="val 20658"/>
            </a:avLst>
          </a:prstGeom>
          <a:solidFill>
            <a:srgbClr val="E6E6E6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2100" dirty="0">
              <a:solidFill>
                <a:srgbClr val="00000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34" name="文本占位符 33"/>
          <p:cNvSpPr>
            <a:spLocks noGrp="1"/>
          </p:cNvSpPr>
          <p:nvPr>
            <p:ph type="body" sz="quarter" idx="13" hasCustomPrompt="1"/>
          </p:nvPr>
        </p:nvSpPr>
        <p:spPr>
          <a:xfrm>
            <a:off x="2106613" y="854075"/>
            <a:ext cx="4954587" cy="523875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FFC000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36" name="文本占位符 35"/>
          <p:cNvSpPr>
            <a:spLocks noGrp="1"/>
          </p:cNvSpPr>
          <p:nvPr>
            <p:ph type="body" sz="quarter" idx="14" hasCustomPrompt="1"/>
          </p:nvPr>
        </p:nvSpPr>
        <p:spPr>
          <a:xfrm>
            <a:off x="1920875" y="2063750"/>
            <a:ext cx="5011738" cy="411163"/>
          </a:xfrm>
        </p:spPr>
        <p:txBody>
          <a:bodyPr>
            <a:normAutofit/>
          </a:bodyPr>
          <a:lstStyle>
            <a:lvl1pPr>
              <a:defRPr sz="2100"/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37" name="文本占位符 35"/>
          <p:cNvSpPr>
            <a:spLocks noGrp="1"/>
          </p:cNvSpPr>
          <p:nvPr>
            <p:ph type="body" sz="quarter" idx="15" hasCustomPrompt="1"/>
          </p:nvPr>
        </p:nvSpPr>
        <p:spPr>
          <a:xfrm>
            <a:off x="1920875" y="2747372"/>
            <a:ext cx="5011738" cy="411163"/>
          </a:xfrm>
        </p:spPr>
        <p:txBody>
          <a:bodyPr>
            <a:normAutofit/>
          </a:bodyPr>
          <a:lstStyle>
            <a:lvl1pPr>
              <a:defRPr sz="2100"/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38" name="文本占位符 35"/>
          <p:cNvSpPr>
            <a:spLocks noGrp="1"/>
          </p:cNvSpPr>
          <p:nvPr>
            <p:ph type="body" sz="quarter" idx="16" hasCustomPrompt="1"/>
          </p:nvPr>
        </p:nvSpPr>
        <p:spPr>
          <a:xfrm>
            <a:off x="1920875" y="3468767"/>
            <a:ext cx="5011738" cy="411163"/>
          </a:xfrm>
        </p:spPr>
        <p:txBody>
          <a:bodyPr>
            <a:normAutofit/>
          </a:bodyPr>
          <a:lstStyle>
            <a:lvl1pPr>
              <a:defRPr sz="2100"/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39" name="文本占位符 35"/>
          <p:cNvSpPr>
            <a:spLocks noGrp="1"/>
          </p:cNvSpPr>
          <p:nvPr>
            <p:ph type="body" sz="quarter" idx="17" hasCustomPrompt="1"/>
          </p:nvPr>
        </p:nvSpPr>
        <p:spPr>
          <a:xfrm>
            <a:off x="1920875" y="5532807"/>
            <a:ext cx="5011738" cy="411163"/>
          </a:xfrm>
        </p:spPr>
        <p:txBody>
          <a:bodyPr>
            <a:normAutofit/>
          </a:bodyPr>
          <a:lstStyle>
            <a:lvl1pPr>
              <a:defRPr sz="2100"/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0" name="文本占位符 35"/>
          <p:cNvSpPr>
            <a:spLocks noGrp="1"/>
          </p:cNvSpPr>
          <p:nvPr>
            <p:ph type="body" sz="quarter" idx="18" hasCustomPrompt="1"/>
          </p:nvPr>
        </p:nvSpPr>
        <p:spPr>
          <a:xfrm>
            <a:off x="1920875" y="4176649"/>
            <a:ext cx="5011738" cy="411163"/>
          </a:xfrm>
        </p:spPr>
        <p:txBody>
          <a:bodyPr>
            <a:normAutofit/>
          </a:bodyPr>
          <a:lstStyle>
            <a:lvl1pPr>
              <a:defRPr sz="2100"/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1" name="文本占位符 35"/>
          <p:cNvSpPr>
            <a:spLocks noGrp="1"/>
          </p:cNvSpPr>
          <p:nvPr>
            <p:ph type="body" sz="quarter" idx="19" hasCustomPrompt="1"/>
          </p:nvPr>
        </p:nvSpPr>
        <p:spPr>
          <a:xfrm>
            <a:off x="1920875" y="4906446"/>
            <a:ext cx="5011738" cy="411163"/>
          </a:xfrm>
        </p:spPr>
        <p:txBody>
          <a:bodyPr>
            <a:normAutofit/>
          </a:bodyPr>
          <a:lstStyle>
            <a:lvl1pPr>
              <a:defRPr sz="2100"/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2" name="矩形 41"/>
          <p:cNvSpPr/>
          <p:nvPr userDrawn="1"/>
        </p:nvSpPr>
        <p:spPr>
          <a:xfrm>
            <a:off x="0" y="-8890"/>
            <a:ext cx="9144000" cy="38227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355">
                <a:solidFill>
                  <a:prstClr val="white"/>
                </a:solidFill>
              </a:rPr>
              <a:t>大数据应用人才培养系列教材</a:t>
            </a:r>
          </a:p>
        </p:txBody>
      </p:sp>
      <p:sp>
        <p:nvSpPr>
          <p:cNvPr id="43" name="矩形 42"/>
          <p:cNvSpPr/>
          <p:nvPr userDrawn="1"/>
        </p:nvSpPr>
        <p:spPr>
          <a:xfrm>
            <a:off x="0" y="6123215"/>
            <a:ext cx="9144000" cy="54614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44" name="矩形 43"/>
          <p:cNvSpPr/>
          <p:nvPr userDrawn="1"/>
        </p:nvSpPr>
        <p:spPr>
          <a:xfrm>
            <a:off x="0" y="6669360"/>
            <a:ext cx="9144000" cy="188640"/>
          </a:xfrm>
          <a:prstGeom prst="rect">
            <a:avLst/>
          </a:prstGeom>
          <a:solidFill>
            <a:srgbClr val="3D89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  <a:t>2025/7/30</a:t>
            </a:fld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  <a:t>‹#›</a:t>
            </a:fld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0" y="1997136"/>
            <a:ext cx="7084431" cy="1791128"/>
            <a:chOff x="-1" y="2037922"/>
            <a:chExt cx="12192763" cy="1791128"/>
          </a:xfrm>
        </p:grpSpPr>
        <p:sp>
          <p:nvSpPr>
            <p:cNvPr id="6" name="矩形 5"/>
            <p:cNvSpPr/>
            <p:nvPr/>
          </p:nvSpPr>
          <p:spPr>
            <a:xfrm>
              <a:off x="762" y="2038350"/>
              <a:ext cx="12192000" cy="17907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762" y="2037922"/>
              <a:ext cx="12192000" cy="720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-1" y="3752264"/>
              <a:ext cx="12192000" cy="720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</p:grp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391"/>
          <a:stretch>
            <a:fillRect/>
          </a:stretch>
        </p:blipFill>
        <p:spPr>
          <a:xfrm flipH="1">
            <a:off x="6143625" y="0"/>
            <a:ext cx="3000375" cy="6858000"/>
          </a:xfrm>
          <a:prstGeom prst="rect">
            <a:avLst/>
          </a:prstGeom>
        </p:spPr>
      </p:pic>
      <p:sp>
        <p:nvSpPr>
          <p:cNvPr id="10" name="文本框 5"/>
          <p:cNvSpPr txBox="1"/>
          <p:nvPr userDrawn="1"/>
        </p:nvSpPr>
        <p:spPr>
          <a:xfrm>
            <a:off x="1371600" y="2328817"/>
            <a:ext cx="418576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7200" spc="600" dirty="0">
                <a:solidFill>
                  <a:srgbClr val="FFFFFF"/>
                </a:solidFill>
              </a:rPr>
              <a:t>感谢聆听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143000" y="1854199"/>
            <a:ext cx="6858000" cy="1655763"/>
          </a:xfrm>
        </p:spPr>
        <p:txBody>
          <a:bodyPr anchor="b">
            <a:normAutofit/>
          </a:bodyPr>
          <a:lstStyle>
            <a:lvl1pPr algn="ctr">
              <a:defRPr sz="7200" b="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  <a:t>2025/7/30</a:t>
            </a:fld>
            <a:endParaRPr lang="zh-CN" altLang="en-US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  <a:t>‹#›</a:t>
            </a:fld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  <a:t>2025/7/30</a:t>
            </a:fld>
            <a:endParaRPr lang="zh-CN" altLang="en-US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  <a:t>‹#›</a:t>
            </a:fld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690257" y="854039"/>
            <a:ext cx="7832784" cy="781051"/>
            <a:chOff x="3725790" y="847725"/>
            <a:chExt cx="3730770" cy="781050"/>
          </a:xfrm>
        </p:grpSpPr>
        <p:grpSp>
          <p:nvGrpSpPr>
            <p:cNvPr id="10" name="组合 9"/>
            <p:cNvGrpSpPr/>
            <p:nvPr/>
          </p:nvGrpSpPr>
          <p:grpSpPr>
            <a:xfrm>
              <a:off x="3725790" y="1019175"/>
              <a:ext cx="627135" cy="609600"/>
              <a:chOff x="3725790" y="1019175"/>
              <a:chExt cx="627135" cy="609600"/>
            </a:xfrm>
          </p:grpSpPr>
          <p:sp>
            <p:nvSpPr>
              <p:cNvPr id="15" name="任意多边形 11"/>
              <p:cNvSpPr/>
              <p:nvPr/>
            </p:nvSpPr>
            <p:spPr>
              <a:xfrm>
                <a:off x="3725790" y="1019175"/>
                <a:ext cx="627135" cy="609600"/>
              </a:xfrm>
              <a:custGeom>
                <a:avLst/>
                <a:gdLst>
                  <a:gd name="connsiteX0" fmla="*/ 0 w 627135"/>
                  <a:gd name="connsiteY0" fmla="*/ 0 h 609600"/>
                  <a:gd name="connsiteX1" fmla="*/ 627135 w 627135"/>
                  <a:gd name="connsiteY1" fmla="*/ 0 h 609600"/>
                  <a:gd name="connsiteX2" fmla="*/ 627135 w 627135"/>
                  <a:gd name="connsiteY2" fmla="*/ 609600 h 609600"/>
                  <a:gd name="connsiteX3" fmla="*/ 1783 w 627135"/>
                  <a:gd name="connsiteY3" fmla="*/ 609600 h 609600"/>
                  <a:gd name="connsiteX4" fmla="*/ 305666 w 627135"/>
                  <a:gd name="connsiteY4" fmla="*/ 300804 h 609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27135" h="609600">
                    <a:moveTo>
                      <a:pt x="0" y="0"/>
                    </a:moveTo>
                    <a:lnTo>
                      <a:pt x="627135" y="0"/>
                    </a:lnTo>
                    <a:lnTo>
                      <a:pt x="627135" y="609600"/>
                    </a:lnTo>
                    <a:lnTo>
                      <a:pt x="1783" y="609600"/>
                    </a:lnTo>
                    <a:lnTo>
                      <a:pt x="305666" y="30080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6" name="直角三角形 15"/>
              <p:cNvSpPr/>
              <p:nvPr/>
            </p:nvSpPr>
            <p:spPr>
              <a:xfrm rot="5400000" flipV="1">
                <a:off x="4181475" y="1457325"/>
                <a:ext cx="171450" cy="171450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11" name="组合 10"/>
            <p:cNvGrpSpPr/>
            <p:nvPr/>
          </p:nvGrpSpPr>
          <p:grpSpPr>
            <a:xfrm flipH="1">
              <a:off x="6829425" y="1019175"/>
              <a:ext cx="627135" cy="609600"/>
              <a:chOff x="3725790" y="1019175"/>
              <a:chExt cx="627135" cy="609600"/>
            </a:xfrm>
          </p:grpSpPr>
          <p:sp>
            <p:nvSpPr>
              <p:cNvPr id="13" name="任意多边形 9"/>
              <p:cNvSpPr/>
              <p:nvPr/>
            </p:nvSpPr>
            <p:spPr>
              <a:xfrm>
                <a:off x="3725790" y="1019175"/>
                <a:ext cx="627135" cy="609600"/>
              </a:xfrm>
              <a:custGeom>
                <a:avLst/>
                <a:gdLst>
                  <a:gd name="connsiteX0" fmla="*/ 0 w 627135"/>
                  <a:gd name="connsiteY0" fmla="*/ 0 h 609600"/>
                  <a:gd name="connsiteX1" fmla="*/ 627135 w 627135"/>
                  <a:gd name="connsiteY1" fmla="*/ 0 h 609600"/>
                  <a:gd name="connsiteX2" fmla="*/ 627135 w 627135"/>
                  <a:gd name="connsiteY2" fmla="*/ 609600 h 609600"/>
                  <a:gd name="connsiteX3" fmla="*/ 1783 w 627135"/>
                  <a:gd name="connsiteY3" fmla="*/ 609600 h 609600"/>
                  <a:gd name="connsiteX4" fmla="*/ 305666 w 627135"/>
                  <a:gd name="connsiteY4" fmla="*/ 300804 h 609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27135" h="609600">
                    <a:moveTo>
                      <a:pt x="0" y="0"/>
                    </a:moveTo>
                    <a:lnTo>
                      <a:pt x="627135" y="0"/>
                    </a:lnTo>
                    <a:lnTo>
                      <a:pt x="627135" y="609600"/>
                    </a:lnTo>
                    <a:lnTo>
                      <a:pt x="1783" y="609600"/>
                    </a:lnTo>
                    <a:lnTo>
                      <a:pt x="305666" y="30080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4" name="直角三角形 13"/>
              <p:cNvSpPr/>
              <p:nvPr/>
            </p:nvSpPr>
            <p:spPr>
              <a:xfrm rot="5400000" flipV="1">
                <a:off x="4181475" y="1457325"/>
                <a:ext cx="171450" cy="171450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12" name="矩形 11"/>
            <p:cNvSpPr/>
            <p:nvPr/>
          </p:nvSpPr>
          <p:spPr>
            <a:xfrm>
              <a:off x="4181475" y="847725"/>
              <a:ext cx="2819400" cy="6096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</p:grpSp>
      <p:grpSp>
        <p:nvGrpSpPr>
          <p:cNvPr id="17" name="组合 16"/>
          <p:cNvGrpSpPr/>
          <p:nvPr userDrawn="1"/>
        </p:nvGrpSpPr>
        <p:grpSpPr>
          <a:xfrm>
            <a:off x="1754535" y="2048547"/>
            <a:ext cx="5693399" cy="415498"/>
            <a:chOff x="1807265" y="2462595"/>
            <a:chExt cx="5693399" cy="415498"/>
          </a:xfrm>
          <a:solidFill>
            <a:schemeClr val="bg2"/>
          </a:solidFill>
        </p:grpSpPr>
        <p:sp>
          <p:nvSpPr>
            <p:cNvPr id="18" name="圆角矩形 46"/>
            <p:cNvSpPr/>
            <p:nvPr/>
          </p:nvSpPr>
          <p:spPr>
            <a:xfrm>
              <a:off x="1807265" y="2478527"/>
              <a:ext cx="5693399" cy="394154"/>
            </a:xfrm>
            <a:prstGeom prst="roundRect">
              <a:avLst>
                <a:gd name="adj" fmla="val 20658"/>
              </a:avLst>
            </a:prstGeom>
            <a:grpFill/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srgbClr val="FFFFFF"/>
                </a:solidFill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1883286" y="2462595"/>
              <a:ext cx="3007662" cy="415498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endParaRPr lang="zh-CN" altLang="en-US" sz="2100" spc="225" dirty="0">
                <a:solidFill>
                  <a:srgbClr val="FFFFFF"/>
                </a:solidFill>
                <a:latin typeface="Microsoft YaHei" panose="020B0503020204020204" pitchFamily="34" charset="-122"/>
              </a:endParaRPr>
            </a:p>
          </p:txBody>
        </p:sp>
      </p:grpSp>
      <p:grpSp>
        <p:nvGrpSpPr>
          <p:cNvPr id="20" name="组合 19"/>
          <p:cNvGrpSpPr/>
          <p:nvPr userDrawn="1"/>
        </p:nvGrpSpPr>
        <p:grpSpPr>
          <a:xfrm>
            <a:off x="1754535" y="2753555"/>
            <a:ext cx="5693399" cy="426278"/>
            <a:chOff x="1807265" y="2935089"/>
            <a:chExt cx="5693399" cy="426278"/>
          </a:xfrm>
        </p:grpSpPr>
        <p:sp>
          <p:nvSpPr>
            <p:cNvPr id="21" name="圆角矩形 48"/>
            <p:cNvSpPr/>
            <p:nvPr/>
          </p:nvSpPr>
          <p:spPr>
            <a:xfrm>
              <a:off x="1807265" y="2935089"/>
              <a:ext cx="5693399" cy="394200"/>
            </a:xfrm>
            <a:prstGeom prst="roundRect">
              <a:avLst>
                <a:gd name="adj" fmla="val 20658"/>
              </a:avLst>
            </a:prstGeom>
            <a:solidFill>
              <a:srgbClr val="E6E6E6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srgbClr val="FFFFFF"/>
                </a:solidFill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1881814" y="2945869"/>
              <a:ext cx="184731" cy="41549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2100" spc="225" dirty="0">
                <a:solidFill>
                  <a:srgbClr val="000000">
                    <a:lumMod val="75000"/>
                    <a:lumOff val="25000"/>
                  </a:srgbClr>
                </a:solidFill>
                <a:latin typeface="Microsoft YaHei" panose="020B0503020204020204" pitchFamily="34" charset="-122"/>
              </a:endParaRPr>
            </a:p>
          </p:txBody>
        </p:sp>
      </p:grpSp>
      <p:grpSp>
        <p:nvGrpSpPr>
          <p:cNvPr id="23" name="组合 22"/>
          <p:cNvGrpSpPr/>
          <p:nvPr userDrawn="1"/>
        </p:nvGrpSpPr>
        <p:grpSpPr>
          <a:xfrm>
            <a:off x="1754535" y="3469343"/>
            <a:ext cx="5693399" cy="426278"/>
            <a:chOff x="1807265" y="3400693"/>
            <a:chExt cx="5693399" cy="426278"/>
          </a:xfrm>
        </p:grpSpPr>
        <p:sp>
          <p:nvSpPr>
            <p:cNvPr id="24" name="圆角矩形 50"/>
            <p:cNvSpPr/>
            <p:nvPr/>
          </p:nvSpPr>
          <p:spPr>
            <a:xfrm>
              <a:off x="1807265" y="3400693"/>
              <a:ext cx="5693399" cy="394200"/>
            </a:xfrm>
            <a:prstGeom prst="roundRect">
              <a:avLst>
                <a:gd name="adj" fmla="val 20658"/>
              </a:avLst>
            </a:prstGeom>
            <a:solidFill>
              <a:srgbClr val="E6E6E6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srgbClr val="FFFFFF"/>
                </a:solidFill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1881814" y="3411473"/>
              <a:ext cx="184731" cy="41549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2100" spc="225" dirty="0">
                <a:solidFill>
                  <a:srgbClr val="000000">
                    <a:lumMod val="75000"/>
                    <a:lumOff val="25000"/>
                  </a:srgbClr>
                </a:solidFill>
                <a:latin typeface="Microsoft YaHei" panose="020B0503020204020204" pitchFamily="34" charset="-122"/>
              </a:endParaRPr>
            </a:p>
          </p:txBody>
        </p:sp>
      </p:grpSp>
      <p:grpSp>
        <p:nvGrpSpPr>
          <p:cNvPr id="26" name="组合 25"/>
          <p:cNvGrpSpPr/>
          <p:nvPr userDrawn="1"/>
        </p:nvGrpSpPr>
        <p:grpSpPr>
          <a:xfrm>
            <a:off x="1754535" y="4185131"/>
            <a:ext cx="5693399" cy="426279"/>
            <a:chOff x="1807265" y="3866296"/>
            <a:chExt cx="5693399" cy="426279"/>
          </a:xfrm>
        </p:grpSpPr>
        <p:sp>
          <p:nvSpPr>
            <p:cNvPr id="27" name="圆角矩形 52"/>
            <p:cNvSpPr/>
            <p:nvPr/>
          </p:nvSpPr>
          <p:spPr>
            <a:xfrm>
              <a:off x="1807265" y="3866296"/>
              <a:ext cx="5693399" cy="394200"/>
            </a:xfrm>
            <a:prstGeom prst="roundRect">
              <a:avLst>
                <a:gd name="adj" fmla="val 20658"/>
              </a:avLst>
            </a:prstGeom>
            <a:solidFill>
              <a:srgbClr val="E6E6E6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srgbClr val="FFFFFF"/>
                </a:solidFill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1881814" y="3877077"/>
              <a:ext cx="184731" cy="41549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2100" spc="225" dirty="0">
                <a:solidFill>
                  <a:srgbClr val="000000">
                    <a:lumMod val="75000"/>
                    <a:lumOff val="25000"/>
                  </a:srgbClr>
                </a:solidFill>
                <a:latin typeface="Microsoft YaHei" panose="020B0503020204020204" pitchFamily="34" charset="-122"/>
              </a:endParaRPr>
            </a:p>
          </p:txBody>
        </p:sp>
      </p:grpSp>
      <p:sp>
        <p:nvSpPr>
          <p:cNvPr id="29" name="圆角矩形 42"/>
          <p:cNvSpPr/>
          <p:nvPr userDrawn="1"/>
        </p:nvSpPr>
        <p:spPr>
          <a:xfrm>
            <a:off x="1765367" y="4900919"/>
            <a:ext cx="5693399" cy="394200"/>
          </a:xfrm>
          <a:prstGeom prst="roundRect">
            <a:avLst>
              <a:gd name="adj" fmla="val 20658"/>
            </a:avLst>
          </a:prstGeom>
          <a:solidFill>
            <a:srgbClr val="E6E6E6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1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 </a:t>
            </a:r>
            <a:endParaRPr lang="zh-CN" altLang="en-US" sz="2100" dirty="0">
              <a:solidFill>
                <a:srgbClr val="00000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30" name="圆角矩形 1"/>
          <p:cNvSpPr/>
          <p:nvPr userDrawn="1"/>
        </p:nvSpPr>
        <p:spPr>
          <a:xfrm>
            <a:off x="1784416" y="5511788"/>
            <a:ext cx="5693399" cy="394200"/>
          </a:xfrm>
          <a:prstGeom prst="roundRect">
            <a:avLst>
              <a:gd name="adj" fmla="val 20658"/>
            </a:avLst>
          </a:prstGeom>
          <a:solidFill>
            <a:srgbClr val="E6E6E6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2100" dirty="0">
              <a:solidFill>
                <a:srgbClr val="00000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34" name="文本占位符 33"/>
          <p:cNvSpPr>
            <a:spLocks noGrp="1"/>
          </p:cNvSpPr>
          <p:nvPr>
            <p:ph type="body" sz="quarter" idx="13" hasCustomPrompt="1"/>
          </p:nvPr>
        </p:nvSpPr>
        <p:spPr>
          <a:xfrm>
            <a:off x="2106613" y="854075"/>
            <a:ext cx="4954587" cy="523875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FFC000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36" name="文本占位符 35"/>
          <p:cNvSpPr>
            <a:spLocks noGrp="1"/>
          </p:cNvSpPr>
          <p:nvPr>
            <p:ph type="body" sz="quarter" idx="14" hasCustomPrompt="1"/>
          </p:nvPr>
        </p:nvSpPr>
        <p:spPr>
          <a:xfrm>
            <a:off x="1920875" y="2063750"/>
            <a:ext cx="5011738" cy="411163"/>
          </a:xfrm>
        </p:spPr>
        <p:txBody>
          <a:bodyPr>
            <a:normAutofit/>
          </a:bodyPr>
          <a:lstStyle>
            <a:lvl1pPr>
              <a:defRPr sz="2100"/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37" name="文本占位符 35"/>
          <p:cNvSpPr>
            <a:spLocks noGrp="1"/>
          </p:cNvSpPr>
          <p:nvPr>
            <p:ph type="body" sz="quarter" idx="15" hasCustomPrompt="1"/>
          </p:nvPr>
        </p:nvSpPr>
        <p:spPr>
          <a:xfrm>
            <a:off x="1920875" y="2747372"/>
            <a:ext cx="5011738" cy="411163"/>
          </a:xfrm>
        </p:spPr>
        <p:txBody>
          <a:bodyPr>
            <a:normAutofit/>
          </a:bodyPr>
          <a:lstStyle>
            <a:lvl1pPr>
              <a:defRPr sz="2100"/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38" name="文本占位符 35"/>
          <p:cNvSpPr>
            <a:spLocks noGrp="1"/>
          </p:cNvSpPr>
          <p:nvPr>
            <p:ph type="body" sz="quarter" idx="16" hasCustomPrompt="1"/>
          </p:nvPr>
        </p:nvSpPr>
        <p:spPr>
          <a:xfrm>
            <a:off x="1920875" y="3468767"/>
            <a:ext cx="5011738" cy="411163"/>
          </a:xfrm>
        </p:spPr>
        <p:txBody>
          <a:bodyPr>
            <a:normAutofit/>
          </a:bodyPr>
          <a:lstStyle>
            <a:lvl1pPr>
              <a:defRPr sz="2100"/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39" name="文本占位符 35"/>
          <p:cNvSpPr>
            <a:spLocks noGrp="1"/>
          </p:cNvSpPr>
          <p:nvPr>
            <p:ph type="body" sz="quarter" idx="17" hasCustomPrompt="1"/>
          </p:nvPr>
        </p:nvSpPr>
        <p:spPr>
          <a:xfrm>
            <a:off x="1920875" y="5532807"/>
            <a:ext cx="5011738" cy="411163"/>
          </a:xfrm>
        </p:spPr>
        <p:txBody>
          <a:bodyPr>
            <a:normAutofit/>
          </a:bodyPr>
          <a:lstStyle>
            <a:lvl1pPr>
              <a:defRPr sz="2100"/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0" name="文本占位符 35"/>
          <p:cNvSpPr>
            <a:spLocks noGrp="1"/>
          </p:cNvSpPr>
          <p:nvPr>
            <p:ph type="body" sz="quarter" idx="18" hasCustomPrompt="1"/>
          </p:nvPr>
        </p:nvSpPr>
        <p:spPr>
          <a:xfrm>
            <a:off x="1920875" y="4176649"/>
            <a:ext cx="5011738" cy="411163"/>
          </a:xfrm>
        </p:spPr>
        <p:txBody>
          <a:bodyPr>
            <a:normAutofit/>
          </a:bodyPr>
          <a:lstStyle>
            <a:lvl1pPr>
              <a:defRPr sz="2100"/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1" name="文本占位符 35"/>
          <p:cNvSpPr>
            <a:spLocks noGrp="1"/>
          </p:cNvSpPr>
          <p:nvPr>
            <p:ph type="body" sz="quarter" idx="19" hasCustomPrompt="1"/>
          </p:nvPr>
        </p:nvSpPr>
        <p:spPr>
          <a:xfrm>
            <a:off x="1920875" y="4906446"/>
            <a:ext cx="5011738" cy="411163"/>
          </a:xfrm>
        </p:spPr>
        <p:txBody>
          <a:bodyPr>
            <a:normAutofit/>
          </a:bodyPr>
          <a:lstStyle>
            <a:lvl1pPr>
              <a:defRPr sz="2100"/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2" name="矩形 41"/>
          <p:cNvSpPr/>
          <p:nvPr userDrawn="1"/>
        </p:nvSpPr>
        <p:spPr>
          <a:xfrm>
            <a:off x="0" y="-8890"/>
            <a:ext cx="9144000" cy="38227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355">
                <a:solidFill>
                  <a:prstClr val="white"/>
                </a:solidFill>
              </a:rPr>
              <a:t>大数据应用人才培养系列教材</a:t>
            </a:r>
          </a:p>
        </p:txBody>
      </p:sp>
      <p:sp>
        <p:nvSpPr>
          <p:cNvPr id="43" name="矩形 42"/>
          <p:cNvSpPr/>
          <p:nvPr userDrawn="1"/>
        </p:nvSpPr>
        <p:spPr>
          <a:xfrm>
            <a:off x="0" y="6123215"/>
            <a:ext cx="9144000" cy="54614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44" name="矩形 43"/>
          <p:cNvSpPr/>
          <p:nvPr userDrawn="1"/>
        </p:nvSpPr>
        <p:spPr>
          <a:xfrm>
            <a:off x="0" y="6669360"/>
            <a:ext cx="9144000" cy="188640"/>
          </a:xfrm>
          <a:prstGeom prst="rect">
            <a:avLst/>
          </a:prstGeom>
          <a:solidFill>
            <a:srgbClr val="3D89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D7636-5BE1-44BC-BB5F-15739D9E18E1}" type="datetimeFigureOut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  <a:t>2025/7/30</a:t>
            </a:fld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C0E1D-24C4-406F-9615-DBDA8D2D1F93}" type="slidenum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  <a:t>‹#›</a:t>
            </a:fld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grpSp>
        <p:nvGrpSpPr>
          <p:cNvPr id="6" name="组合 5"/>
          <p:cNvGrpSpPr/>
          <p:nvPr userDrawn="1"/>
        </p:nvGrpSpPr>
        <p:grpSpPr>
          <a:xfrm>
            <a:off x="-1" y="-2439"/>
            <a:ext cx="9145787" cy="718411"/>
            <a:chOff x="-1" y="190175"/>
            <a:chExt cx="9145786" cy="525795"/>
          </a:xfrm>
        </p:grpSpPr>
        <p:sp>
          <p:nvSpPr>
            <p:cNvPr id="7" name="任意多边形 4"/>
            <p:cNvSpPr/>
            <p:nvPr/>
          </p:nvSpPr>
          <p:spPr>
            <a:xfrm>
              <a:off x="1" y="190175"/>
              <a:ext cx="9143999" cy="490975"/>
            </a:xfrm>
            <a:custGeom>
              <a:avLst/>
              <a:gdLst>
                <a:gd name="connsiteX0" fmla="*/ 0 w 12191999"/>
                <a:gd name="connsiteY0" fmla="*/ 0 h 647700"/>
                <a:gd name="connsiteX1" fmla="*/ 12191999 w 12191999"/>
                <a:gd name="connsiteY1" fmla="*/ 0 h 647700"/>
                <a:gd name="connsiteX2" fmla="*/ 12191999 w 12191999"/>
                <a:gd name="connsiteY2" fmla="*/ 4171 h 647700"/>
                <a:gd name="connsiteX3" fmla="*/ 8600846 w 12191999"/>
                <a:gd name="connsiteY3" fmla="*/ 4171 h 647700"/>
                <a:gd name="connsiteX4" fmla="*/ 8223451 w 12191999"/>
                <a:gd name="connsiteY4" fmla="*/ 647700 h 647700"/>
                <a:gd name="connsiteX5" fmla="*/ 0 w 12191999"/>
                <a:gd name="connsiteY5" fmla="*/ 647700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1999" h="647700">
                  <a:moveTo>
                    <a:pt x="0" y="0"/>
                  </a:moveTo>
                  <a:lnTo>
                    <a:pt x="12191999" y="0"/>
                  </a:lnTo>
                  <a:lnTo>
                    <a:pt x="12191999" y="4171"/>
                  </a:lnTo>
                  <a:lnTo>
                    <a:pt x="8600846" y="4171"/>
                  </a:lnTo>
                  <a:lnTo>
                    <a:pt x="8223451" y="647700"/>
                  </a:lnTo>
                  <a:lnTo>
                    <a:pt x="0" y="647700"/>
                  </a:lnTo>
                  <a:close/>
                </a:path>
              </a:pathLst>
            </a:custGeom>
            <a:solidFill>
              <a:srgbClr val="3D89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  <p:sp>
          <p:nvSpPr>
            <p:cNvPr id="8" name="任意多边形 5"/>
            <p:cNvSpPr/>
            <p:nvPr/>
          </p:nvSpPr>
          <p:spPr>
            <a:xfrm>
              <a:off x="-1" y="191961"/>
              <a:ext cx="9144000" cy="524009"/>
            </a:xfrm>
            <a:custGeom>
              <a:avLst/>
              <a:gdLst>
                <a:gd name="connsiteX0" fmla="*/ 8649011 w 12192000"/>
                <a:gd name="connsiteY0" fmla="*/ 0 h 698678"/>
                <a:gd name="connsiteX1" fmla="*/ 12192000 w 12192000"/>
                <a:gd name="connsiteY1" fmla="*/ 0 h 698678"/>
                <a:gd name="connsiteX2" fmla="*/ 12192000 w 12192000"/>
                <a:gd name="connsiteY2" fmla="*/ 45719 h 698678"/>
                <a:gd name="connsiteX3" fmla="*/ 8689612 w 12192000"/>
                <a:gd name="connsiteY3" fmla="*/ 45719 h 698678"/>
                <a:gd name="connsiteX4" fmla="*/ 8309954 w 12192000"/>
                <a:gd name="connsiteY4" fmla="*/ 698678 h 698678"/>
                <a:gd name="connsiteX5" fmla="*/ 8149486 w 12192000"/>
                <a:gd name="connsiteY5" fmla="*/ 698678 h 698678"/>
                <a:gd name="connsiteX6" fmla="*/ 8149901 w 12192000"/>
                <a:gd name="connsiteY6" fmla="*/ 697970 h 698678"/>
                <a:gd name="connsiteX7" fmla="*/ 0 w 12192000"/>
                <a:gd name="connsiteY7" fmla="*/ 697970 h 698678"/>
                <a:gd name="connsiteX8" fmla="*/ 0 w 12192000"/>
                <a:gd name="connsiteY8" fmla="*/ 652251 h 698678"/>
                <a:gd name="connsiteX9" fmla="*/ 8176713 w 12192000"/>
                <a:gd name="connsiteY9" fmla="*/ 652251 h 698678"/>
                <a:gd name="connsiteX10" fmla="*/ 8557764 w 12192000"/>
                <a:gd name="connsiteY10" fmla="*/ 2487 h 698678"/>
                <a:gd name="connsiteX11" fmla="*/ 8649011 w 12192000"/>
                <a:gd name="connsiteY11" fmla="*/ 2487 h 698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92000" h="698678">
                  <a:moveTo>
                    <a:pt x="8649011" y="0"/>
                  </a:moveTo>
                  <a:lnTo>
                    <a:pt x="12192000" y="0"/>
                  </a:lnTo>
                  <a:lnTo>
                    <a:pt x="12192000" y="45719"/>
                  </a:lnTo>
                  <a:lnTo>
                    <a:pt x="8689612" y="45719"/>
                  </a:lnTo>
                  <a:lnTo>
                    <a:pt x="8309954" y="698678"/>
                  </a:lnTo>
                  <a:lnTo>
                    <a:pt x="8149486" y="698678"/>
                  </a:lnTo>
                  <a:lnTo>
                    <a:pt x="8149901" y="697970"/>
                  </a:lnTo>
                  <a:lnTo>
                    <a:pt x="0" y="697970"/>
                  </a:lnTo>
                  <a:lnTo>
                    <a:pt x="0" y="652251"/>
                  </a:lnTo>
                  <a:lnTo>
                    <a:pt x="8176713" y="652251"/>
                  </a:lnTo>
                  <a:lnTo>
                    <a:pt x="8557764" y="2487"/>
                  </a:lnTo>
                  <a:lnTo>
                    <a:pt x="8649011" y="2487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  <p:sp>
          <p:nvSpPr>
            <p:cNvPr id="9" name="任意多边形 6"/>
            <p:cNvSpPr/>
            <p:nvPr/>
          </p:nvSpPr>
          <p:spPr>
            <a:xfrm>
              <a:off x="6231369" y="228409"/>
              <a:ext cx="2914416" cy="485775"/>
            </a:xfrm>
            <a:custGeom>
              <a:avLst/>
              <a:gdLst>
                <a:gd name="connsiteX0" fmla="*/ 379841 w 3885888"/>
                <a:gd name="connsiteY0" fmla="*/ 0 h 647700"/>
                <a:gd name="connsiteX1" fmla="*/ 3885888 w 3885888"/>
                <a:gd name="connsiteY1" fmla="*/ 0 h 647700"/>
                <a:gd name="connsiteX2" fmla="*/ 3885888 w 3885888"/>
                <a:gd name="connsiteY2" fmla="*/ 647700 h 647700"/>
                <a:gd name="connsiteX3" fmla="*/ 0 w 3885888"/>
                <a:gd name="connsiteY3" fmla="*/ 647700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5888" h="647700">
                  <a:moveTo>
                    <a:pt x="379841" y="0"/>
                  </a:moveTo>
                  <a:lnTo>
                    <a:pt x="3885888" y="0"/>
                  </a:lnTo>
                  <a:lnTo>
                    <a:pt x="3885888" y="647700"/>
                  </a:lnTo>
                  <a:lnTo>
                    <a:pt x="0" y="647700"/>
                  </a:lnTo>
                  <a:close/>
                </a:path>
              </a:pathLst>
            </a:custGeom>
            <a:solidFill>
              <a:srgbClr val="3D89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</p:grpSp>
      <p:sp>
        <p:nvSpPr>
          <p:cNvPr id="11" name="文本占位符 10"/>
          <p:cNvSpPr>
            <a:spLocks noGrp="1"/>
          </p:cNvSpPr>
          <p:nvPr>
            <p:ph type="body" sz="quarter" idx="13" hasCustomPrompt="1"/>
          </p:nvPr>
        </p:nvSpPr>
        <p:spPr>
          <a:xfrm>
            <a:off x="392113" y="948743"/>
            <a:ext cx="7094537" cy="544391"/>
          </a:xfr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3" name="内容占位符 12"/>
          <p:cNvSpPr>
            <a:spLocks noGrp="1"/>
          </p:cNvSpPr>
          <p:nvPr>
            <p:ph sz="quarter" idx="14" hasCustomPrompt="1"/>
          </p:nvPr>
        </p:nvSpPr>
        <p:spPr>
          <a:xfrm>
            <a:off x="628650" y="1863725"/>
            <a:ext cx="7886700" cy="40449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4" name="矩形 13"/>
          <p:cNvSpPr/>
          <p:nvPr userDrawn="1"/>
        </p:nvSpPr>
        <p:spPr>
          <a:xfrm>
            <a:off x="0" y="6123215"/>
            <a:ext cx="9144000" cy="54614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0" y="6669360"/>
            <a:ext cx="9144000" cy="188640"/>
          </a:xfrm>
          <a:prstGeom prst="rect">
            <a:avLst/>
          </a:prstGeom>
          <a:solidFill>
            <a:srgbClr val="3D89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  <a:t>2025/7/30</a:t>
            </a:fld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  <a:t>‹#›</a:t>
            </a:fld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0" y="1997136"/>
            <a:ext cx="7084431" cy="1791128"/>
            <a:chOff x="-1" y="2037922"/>
            <a:chExt cx="12192763" cy="1791128"/>
          </a:xfrm>
        </p:grpSpPr>
        <p:sp>
          <p:nvSpPr>
            <p:cNvPr id="6" name="矩形 5"/>
            <p:cNvSpPr/>
            <p:nvPr/>
          </p:nvSpPr>
          <p:spPr>
            <a:xfrm>
              <a:off x="762" y="2038350"/>
              <a:ext cx="12192000" cy="17907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762" y="2037922"/>
              <a:ext cx="12192000" cy="720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-1" y="3752264"/>
              <a:ext cx="12192000" cy="720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</p:grp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391"/>
          <a:stretch>
            <a:fillRect/>
          </a:stretch>
        </p:blipFill>
        <p:spPr>
          <a:xfrm flipH="1">
            <a:off x="6143625" y="0"/>
            <a:ext cx="3000375" cy="6858000"/>
          </a:xfrm>
          <a:prstGeom prst="rect">
            <a:avLst/>
          </a:prstGeom>
        </p:spPr>
      </p:pic>
      <p:sp>
        <p:nvSpPr>
          <p:cNvPr id="10" name="文本框 5"/>
          <p:cNvSpPr txBox="1"/>
          <p:nvPr userDrawn="1"/>
        </p:nvSpPr>
        <p:spPr>
          <a:xfrm>
            <a:off x="1371600" y="2328817"/>
            <a:ext cx="418576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7200" spc="600" dirty="0">
                <a:solidFill>
                  <a:srgbClr val="FFFFFF"/>
                </a:solidFill>
              </a:rPr>
              <a:t>感谢聆听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143000" y="1854199"/>
            <a:ext cx="6858000" cy="1655763"/>
          </a:xfrm>
        </p:spPr>
        <p:txBody>
          <a:bodyPr anchor="b">
            <a:normAutofit/>
          </a:bodyPr>
          <a:lstStyle>
            <a:lvl1pPr algn="ctr">
              <a:defRPr sz="7200" b="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  <a:t>2025/7/30</a:t>
            </a:fld>
            <a:endParaRPr lang="zh-CN" altLang="en-US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  <a:t>‹#›</a:t>
            </a:fld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  <a:t>2025/7/30</a:t>
            </a:fld>
            <a:endParaRPr lang="zh-CN" altLang="en-US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  <a:t>‹#›</a:t>
            </a:fld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690257" y="854039"/>
            <a:ext cx="7832784" cy="781051"/>
            <a:chOff x="3725790" y="847725"/>
            <a:chExt cx="3730770" cy="781050"/>
          </a:xfrm>
        </p:grpSpPr>
        <p:grpSp>
          <p:nvGrpSpPr>
            <p:cNvPr id="10" name="组合 9"/>
            <p:cNvGrpSpPr/>
            <p:nvPr/>
          </p:nvGrpSpPr>
          <p:grpSpPr>
            <a:xfrm>
              <a:off x="3725790" y="1019175"/>
              <a:ext cx="627135" cy="609600"/>
              <a:chOff x="3725790" y="1019175"/>
              <a:chExt cx="627135" cy="609600"/>
            </a:xfrm>
          </p:grpSpPr>
          <p:sp>
            <p:nvSpPr>
              <p:cNvPr id="15" name="任意多边形 11"/>
              <p:cNvSpPr/>
              <p:nvPr/>
            </p:nvSpPr>
            <p:spPr>
              <a:xfrm>
                <a:off x="3725790" y="1019175"/>
                <a:ext cx="627135" cy="609600"/>
              </a:xfrm>
              <a:custGeom>
                <a:avLst/>
                <a:gdLst>
                  <a:gd name="connsiteX0" fmla="*/ 0 w 627135"/>
                  <a:gd name="connsiteY0" fmla="*/ 0 h 609600"/>
                  <a:gd name="connsiteX1" fmla="*/ 627135 w 627135"/>
                  <a:gd name="connsiteY1" fmla="*/ 0 h 609600"/>
                  <a:gd name="connsiteX2" fmla="*/ 627135 w 627135"/>
                  <a:gd name="connsiteY2" fmla="*/ 609600 h 609600"/>
                  <a:gd name="connsiteX3" fmla="*/ 1783 w 627135"/>
                  <a:gd name="connsiteY3" fmla="*/ 609600 h 609600"/>
                  <a:gd name="connsiteX4" fmla="*/ 305666 w 627135"/>
                  <a:gd name="connsiteY4" fmla="*/ 300804 h 609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27135" h="609600">
                    <a:moveTo>
                      <a:pt x="0" y="0"/>
                    </a:moveTo>
                    <a:lnTo>
                      <a:pt x="627135" y="0"/>
                    </a:lnTo>
                    <a:lnTo>
                      <a:pt x="627135" y="609600"/>
                    </a:lnTo>
                    <a:lnTo>
                      <a:pt x="1783" y="609600"/>
                    </a:lnTo>
                    <a:lnTo>
                      <a:pt x="305666" y="30080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6" name="直角三角形 15"/>
              <p:cNvSpPr/>
              <p:nvPr/>
            </p:nvSpPr>
            <p:spPr>
              <a:xfrm rot="5400000" flipV="1">
                <a:off x="4181475" y="1457325"/>
                <a:ext cx="171450" cy="171450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11" name="组合 10"/>
            <p:cNvGrpSpPr/>
            <p:nvPr/>
          </p:nvGrpSpPr>
          <p:grpSpPr>
            <a:xfrm flipH="1">
              <a:off x="6829425" y="1019175"/>
              <a:ext cx="627135" cy="609600"/>
              <a:chOff x="3725790" y="1019175"/>
              <a:chExt cx="627135" cy="609600"/>
            </a:xfrm>
          </p:grpSpPr>
          <p:sp>
            <p:nvSpPr>
              <p:cNvPr id="13" name="任意多边形 9"/>
              <p:cNvSpPr/>
              <p:nvPr/>
            </p:nvSpPr>
            <p:spPr>
              <a:xfrm>
                <a:off x="3725790" y="1019175"/>
                <a:ext cx="627135" cy="609600"/>
              </a:xfrm>
              <a:custGeom>
                <a:avLst/>
                <a:gdLst>
                  <a:gd name="connsiteX0" fmla="*/ 0 w 627135"/>
                  <a:gd name="connsiteY0" fmla="*/ 0 h 609600"/>
                  <a:gd name="connsiteX1" fmla="*/ 627135 w 627135"/>
                  <a:gd name="connsiteY1" fmla="*/ 0 h 609600"/>
                  <a:gd name="connsiteX2" fmla="*/ 627135 w 627135"/>
                  <a:gd name="connsiteY2" fmla="*/ 609600 h 609600"/>
                  <a:gd name="connsiteX3" fmla="*/ 1783 w 627135"/>
                  <a:gd name="connsiteY3" fmla="*/ 609600 h 609600"/>
                  <a:gd name="connsiteX4" fmla="*/ 305666 w 627135"/>
                  <a:gd name="connsiteY4" fmla="*/ 300804 h 609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27135" h="609600">
                    <a:moveTo>
                      <a:pt x="0" y="0"/>
                    </a:moveTo>
                    <a:lnTo>
                      <a:pt x="627135" y="0"/>
                    </a:lnTo>
                    <a:lnTo>
                      <a:pt x="627135" y="609600"/>
                    </a:lnTo>
                    <a:lnTo>
                      <a:pt x="1783" y="609600"/>
                    </a:lnTo>
                    <a:lnTo>
                      <a:pt x="305666" y="30080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4" name="直角三角形 13"/>
              <p:cNvSpPr/>
              <p:nvPr/>
            </p:nvSpPr>
            <p:spPr>
              <a:xfrm rot="5400000" flipV="1">
                <a:off x="4181475" y="1457325"/>
                <a:ext cx="171450" cy="171450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12" name="矩形 11"/>
            <p:cNvSpPr/>
            <p:nvPr/>
          </p:nvSpPr>
          <p:spPr>
            <a:xfrm>
              <a:off x="4181475" y="847725"/>
              <a:ext cx="2819400" cy="6096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</p:grpSp>
      <p:grpSp>
        <p:nvGrpSpPr>
          <p:cNvPr id="17" name="组合 16"/>
          <p:cNvGrpSpPr/>
          <p:nvPr userDrawn="1"/>
        </p:nvGrpSpPr>
        <p:grpSpPr>
          <a:xfrm>
            <a:off x="1754535" y="2048547"/>
            <a:ext cx="5693399" cy="415498"/>
            <a:chOff x="1807265" y="2462595"/>
            <a:chExt cx="5693399" cy="415498"/>
          </a:xfrm>
          <a:solidFill>
            <a:schemeClr val="bg2"/>
          </a:solidFill>
        </p:grpSpPr>
        <p:sp>
          <p:nvSpPr>
            <p:cNvPr id="18" name="圆角矩形 46"/>
            <p:cNvSpPr/>
            <p:nvPr/>
          </p:nvSpPr>
          <p:spPr>
            <a:xfrm>
              <a:off x="1807265" y="2478527"/>
              <a:ext cx="5693399" cy="394154"/>
            </a:xfrm>
            <a:prstGeom prst="roundRect">
              <a:avLst>
                <a:gd name="adj" fmla="val 20658"/>
              </a:avLst>
            </a:prstGeom>
            <a:grpFill/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srgbClr val="FFFFFF"/>
                </a:solidFill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1883286" y="2462595"/>
              <a:ext cx="3007662" cy="415498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endParaRPr lang="zh-CN" altLang="en-US" sz="2100" spc="225" dirty="0">
                <a:solidFill>
                  <a:srgbClr val="FFFFFF"/>
                </a:solidFill>
                <a:latin typeface="Microsoft YaHei" panose="020B0503020204020204" pitchFamily="34" charset="-122"/>
              </a:endParaRPr>
            </a:p>
          </p:txBody>
        </p:sp>
      </p:grpSp>
      <p:grpSp>
        <p:nvGrpSpPr>
          <p:cNvPr id="20" name="组合 19"/>
          <p:cNvGrpSpPr/>
          <p:nvPr userDrawn="1"/>
        </p:nvGrpSpPr>
        <p:grpSpPr>
          <a:xfrm>
            <a:off x="1754535" y="2753555"/>
            <a:ext cx="5693399" cy="426278"/>
            <a:chOff x="1807265" y="2935089"/>
            <a:chExt cx="5693399" cy="426278"/>
          </a:xfrm>
        </p:grpSpPr>
        <p:sp>
          <p:nvSpPr>
            <p:cNvPr id="21" name="圆角矩形 48"/>
            <p:cNvSpPr/>
            <p:nvPr/>
          </p:nvSpPr>
          <p:spPr>
            <a:xfrm>
              <a:off x="1807265" y="2935089"/>
              <a:ext cx="5693399" cy="394200"/>
            </a:xfrm>
            <a:prstGeom prst="roundRect">
              <a:avLst>
                <a:gd name="adj" fmla="val 20658"/>
              </a:avLst>
            </a:prstGeom>
            <a:solidFill>
              <a:srgbClr val="E6E6E6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srgbClr val="FFFFFF"/>
                </a:solidFill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1881814" y="2945869"/>
              <a:ext cx="184731" cy="41549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2100" spc="225" dirty="0">
                <a:solidFill>
                  <a:srgbClr val="000000">
                    <a:lumMod val="75000"/>
                    <a:lumOff val="25000"/>
                  </a:srgbClr>
                </a:solidFill>
                <a:latin typeface="Microsoft YaHei" panose="020B0503020204020204" pitchFamily="34" charset="-122"/>
              </a:endParaRPr>
            </a:p>
          </p:txBody>
        </p:sp>
      </p:grpSp>
      <p:grpSp>
        <p:nvGrpSpPr>
          <p:cNvPr id="23" name="组合 22"/>
          <p:cNvGrpSpPr/>
          <p:nvPr userDrawn="1"/>
        </p:nvGrpSpPr>
        <p:grpSpPr>
          <a:xfrm>
            <a:off x="1754535" y="3469343"/>
            <a:ext cx="5693399" cy="426278"/>
            <a:chOff x="1807265" y="3400693"/>
            <a:chExt cx="5693399" cy="426278"/>
          </a:xfrm>
        </p:grpSpPr>
        <p:sp>
          <p:nvSpPr>
            <p:cNvPr id="24" name="圆角矩形 50"/>
            <p:cNvSpPr/>
            <p:nvPr/>
          </p:nvSpPr>
          <p:spPr>
            <a:xfrm>
              <a:off x="1807265" y="3400693"/>
              <a:ext cx="5693399" cy="394200"/>
            </a:xfrm>
            <a:prstGeom prst="roundRect">
              <a:avLst>
                <a:gd name="adj" fmla="val 20658"/>
              </a:avLst>
            </a:prstGeom>
            <a:solidFill>
              <a:srgbClr val="E6E6E6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srgbClr val="FFFFFF"/>
                </a:solidFill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1881814" y="3411473"/>
              <a:ext cx="184731" cy="41549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2100" spc="225" dirty="0">
                <a:solidFill>
                  <a:srgbClr val="000000">
                    <a:lumMod val="75000"/>
                    <a:lumOff val="25000"/>
                  </a:srgbClr>
                </a:solidFill>
                <a:latin typeface="Microsoft YaHei" panose="020B0503020204020204" pitchFamily="34" charset="-122"/>
              </a:endParaRPr>
            </a:p>
          </p:txBody>
        </p:sp>
      </p:grpSp>
      <p:grpSp>
        <p:nvGrpSpPr>
          <p:cNvPr id="26" name="组合 25"/>
          <p:cNvGrpSpPr/>
          <p:nvPr userDrawn="1"/>
        </p:nvGrpSpPr>
        <p:grpSpPr>
          <a:xfrm>
            <a:off x="1754535" y="4185131"/>
            <a:ext cx="5693399" cy="426279"/>
            <a:chOff x="1807265" y="3866296"/>
            <a:chExt cx="5693399" cy="426279"/>
          </a:xfrm>
        </p:grpSpPr>
        <p:sp>
          <p:nvSpPr>
            <p:cNvPr id="27" name="圆角矩形 52"/>
            <p:cNvSpPr/>
            <p:nvPr/>
          </p:nvSpPr>
          <p:spPr>
            <a:xfrm>
              <a:off x="1807265" y="3866296"/>
              <a:ext cx="5693399" cy="394200"/>
            </a:xfrm>
            <a:prstGeom prst="roundRect">
              <a:avLst>
                <a:gd name="adj" fmla="val 20658"/>
              </a:avLst>
            </a:prstGeom>
            <a:solidFill>
              <a:srgbClr val="E6E6E6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srgbClr val="FFFFFF"/>
                </a:solidFill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1881814" y="3877077"/>
              <a:ext cx="184731" cy="41549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2100" spc="225" dirty="0">
                <a:solidFill>
                  <a:srgbClr val="000000">
                    <a:lumMod val="75000"/>
                    <a:lumOff val="25000"/>
                  </a:srgbClr>
                </a:solidFill>
                <a:latin typeface="Microsoft YaHei" panose="020B0503020204020204" pitchFamily="34" charset="-122"/>
              </a:endParaRPr>
            </a:p>
          </p:txBody>
        </p:sp>
      </p:grpSp>
      <p:sp>
        <p:nvSpPr>
          <p:cNvPr id="29" name="圆角矩形 42"/>
          <p:cNvSpPr/>
          <p:nvPr userDrawn="1"/>
        </p:nvSpPr>
        <p:spPr>
          <a:xfrm>
            <a:off x="1765367" y="4900919"/>
            <a:ext cx="5693399" cy="394200"/>
          </a:xfrm>
          <a:prstGeom prst="roundRect">
            <a:avLst>
              <a:gd name="adj" fmla="val 20658"/>
            </a:avLst>
          </a:prstGeom>
          <a:solidFill>
            <a:srgbClr val="E6E6E6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1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 </a:t>
            </a:r>
            <a:endParaRPr lang="zh-CN" altLang="en-US" sz="2100" dirty="0">
              <a:solidFill>
                <a:srgbClr val="00000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30" name="圆角矩形 1"/>
          <p:cNvSpPr/>
          <p:nvPr userDrawn="1"/>
        </p:nvSpPr>
        <p:spPr>
          <a:xfrm>
            <a:off x="1784416" y="5511788"/>
            <a:ext cx="5693399" cy="394200"/>
          </a:xfrm>
          <a:prstGeom prst="roundRect">
            <a:avLst>
              <a:gd name="adj" fmla="val 20658"/>
            </a:avLst>
          </a:prstGeom>
          <a:solidFill>
            <a:srgbClr val="E6E6E6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2100" dirty="0">
              <a:solidFill>
                <a:srgbClr val="00000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34" name="文本占位符 33"/>
          <p:cNvSpPr>
            <a:spLocks noGrp="1"/>
          </p:cNvSpPr>
          <p:nvPr>
            <p:ph type="body" sz="quarter" idx="13" hasCustomPrompt="1"/>
          </p:nvPr>
        </p:nvSpPr>
        <p:spPr>
          <a:xfrm>
            <a:off x="2106613" y="854075"/>
            <a:ext cx="4954587" cy="523875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FFC000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36" name="文本占位符 35"/>
          <p:cNvSpPr>
            <a:spLocks noGrp="1"/>
          </p:cNvSpPr>
          <p:nvPr>
            <p:ph type="body" sz="quarter" idx="14" hasCustomPrompt="1"/>
          </p:nvPr>
        </p:nvSpPr>
        <p:spPr>
          <a:xfrm>
            <a:off x="1920875" y="2063750"/>
            <a:ext cx="5011738" cy="411163"/>
          </a:xfrm>
        </p:spPr>
        <p:txBody>
          <a:bodyPr>
            <a:normAutofit/>
          </a:bodyPr>
          <a:lstStyle>
            <a:lvl1pPr>
              <a:defRPr sz="2100"/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37" name="文本占位符 35"/>
          <p:cNvSpPr>
            <a:spLocks noGrp="1"/>
          </p:cNvSpPr>
          <p:nvPr>
            <p:ph type="body" sz="quarter" idx="15" hasCustomPrompt="1"/>
          </p:nvPr>
        </p:nvSpPr>
        <p:spPr>
          <a:xfrm>
            <a:off x="1920875" y="2747372"/>
            <a:ext cx="5011738" cy="411163"/>
          </a:xfrm>
        </p:spPr>
        <p:txBody>
          <a:bodyPr>
            <a:normAutofit/>
          </a:bodyPr>
          <a:lstStyle>
            <a:lvl1pPr>
              <a:defRPr sz="2100"/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38" name="文本占位符 35"/>
          <p:cNvSpPr>
            <a:spLocks noGrp="1"/>
          </p:cNvSpPr>
          <p:nvPr>
            <p:ph type="body" sz="quarter" idx="16" hasCustomPrompt="1"/>
          </p:nvPr>
        </p:nvSpPr>
        <p:spPr>
          <a:xfrm>
            <a:off x="1920875" y="3468767"/>
            <a:ext cx="5011738" cy="411163"/>
          </a:xfrm>
        </p:spPr>
        <p:txBody>
          <a:bodyPr>
            <a:normAutofit/>
          </a:bodyPr>
          <a:lstStyle>
            <a:lvl1pPr>
              <a:defRPr sz="2100"/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39" name="文本占位符 35"/>
          <p:cNvSpPr>
            <a:spLocks noGrp="1"/>
          </p:cNvSpPr>
          <p:nvPr>
            <p:ph type="body" sz="quarter" idx="17" hasCustomPrompt="1"/>
          </p:nvPr>
        </p:nvSpPr>
        <p:spPr>
          <a:xfrm>
            <a:off x="1920875" y="5532807"/>
            <a:ext cx="5011738" cy="411163"/>
          </a:xfrm>
        </p:spPr>
        <p:txBody>
          <a:bodyPr>
            <a:normAutofit/>
          </a:bodyPr>
          <a:lstStyle>
            <a:lvl1pPr>
              <a:defRPr sz="2100"/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0" name="文本占位符 35"/>
          <p:cNvSpPr>
            <a:spLocks noGrp="1"/>
          </p:cNvSpPr>
          <p:nvPr>
            <p:ph type="body" sz="quarter" idx="18" hasCustomPrompt="1"/>
          </p:nvPr>
        </p:nvSpPr>
        <p:spPr>
          <a:xfrm>
            <a:off x="1920875" y="4176649"/>
            <a:ext cx="5011738" cy="411163"/>
          </a:xfrm>
        </p:spPr>
        <p:txBody>
          <a:bodyPr>
            <a:normAutofit/>
          </a:bodyPr>
          <a:lstStyle>
            <a:lvl1pPr>
              <a:defRPr sz="2100"/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1" name="文本占位符 35"/>
          <p:cNvSpPr>
            <a:spLocks noGrp="1"/>
          </p:cNvSpPr>
          <p:nvPr>
            <p:ph type="body" sz="quarter" idx="19" hasCustomPrompt="1"/>
          </p:nvPr>
        </p:nvSpPr>
        <p:spPr>
          <a:xfrm>
            <a:off x="1920875" y="4906446"/>
            <a:ext cx="5011738" cy="411163"/>
          </a:xfrm>
        </p:spPr>
        <p:txBody>
          <a:bodyPr>
            <a:normAutofit/>
          </a:bodyPr>
          <a:lstStyle>
            <a:lvl1pPr>
              <a:defRPr sz="2100"/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2" name="矩形 41"/>
          <p:cNvSpPr/>
          <p:nvPr userDrawn="1"/>
        </p:nvSpPr>
        <p:spPr>
          <a:xfrm>
            <a:off x="0" y="-8890"/>
            <a:ext cx="9144000" cy="38227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355">
                <a:solidFill>
                  <a:prstClr val="white"/>
                </a:solidFill>
              </a:rPr>
              <a:t>大数据应用人才培养系列教材</a:t>
            </a:r>
          </a:p>
        </p:txBody>
      </p:sp>
      <p:sp>
        <p:nvSpPr>
          <p:cNvPr id="43" name="矩形 42"/>
          <p:cNvSpPr/>
          <p:nvPr userDrawn="1"/>
        </p:nvSpPr>
        <p:spPr>
          <a:xfrm>
            <a:off x="0" y="6123215"/>
            <a:ext cx="9144000" cy="54614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44" name="矩形 43"/>
          <p:cNvSpPr/>
          <p:nvPr userDrawn="1"/>
        </p:nvSpPr>
        <p:spPr>
          <a:xfrm>
            <a:off x="0" y="6669360"/>
            <a:ext cx="9144000" cy="188640"/>
          </a:xfrm>
          <a:prstGeom prst="rect">
            <a:avLst/>
          </a:prstGeom>
          <a:solidFill>
            <a:srgbClr val="3D89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D7636-5BE1-44BC-BB5F-15739D9E18E1}" type="datetimeFigureOut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  <a:t>2025/7/30</a:t>
            </a:fld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C0E1D-24C4-406F-9615-DBDA8D2D1F93}" type="slidenum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  <a:t>‹#›</a:t>
            </a:fld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grpSp>
        <p:nvGrpSpPr>
          <p:cNvPr id="6" name="组合 5"/>
          <p:cNvGrpSpPr/>
          <p:nvPr userDrawn="1"/>
        </p:nvGrpSpPr>
        <p:grpSpPr>
          <a:xfrm>
            <a:off x="-1" y="-2439"/>
            <a:ext cx="9145787" cy="718411"/>
            <a:chOff x="-1" y="190175"/>
            <a:chExt cx="9145786" cy="525795"/>
          </a:xfrm>
        </p:grpSpPr>
        <p:sp>
          <p:nvSpPr>
            <p:cNvPr id="7" name="任意多边形 4"/>
            <p:cNvSpPr/>
            <p:nvPr/>
          </p:nvSpPr>
          <p:spPr>
            <a:xfrm>
              <a:off x="1" y="190175"/>
              <a:ext cx="9143999" cy="490975"/>
            </a:xfrm>
            <a:custGeom>
              <a:avLst/>
              <a:gdLst>
                <a:gd name="connsiteX0" fmla="*/ 0 w 12191999"/>
                <a:gd name="connsiteY0" fmla="*/ 0 h 647700"/>
                <a:gd name="connsiteX1" fmla="*/ 12191999 w 12191999"/>
                <a:gd name="connsiteY1" fmla="*/ 0 h 647700"/>
                <a:gd name="connsiteX2" fmla="*/ 12191999 w 12191999"/>
                <a:gd name="connsiteY2" fmla="*/ 4171 h 647700"/>
                <a:gd name="connsiteX3" fmla="*/ 8600846 w 12191999"/>
                <a:gd name="connsiteY3" fmla="*/ 4171 h 647700"/>
                <a:gd name="connsiteX4" fmla="*/ 8223451 w 12191999"/>
                <a:gd name="connsiteY4" fmla="*/ 647700 h 647700"/>
                <a:gd name="connsiteX5" fmla="*/ 0 w 12191999"/>
                <a:gd name="connsiteY5" fmla="*/ 647700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1999" h="647700">
                  <a:moveTo>
                    <a:pt x="0" y="0"/>
                  </a:moveTo>
                  <a:lnTo>
                    <a:pt x="12191999" y="0"/>
                  </a:lnTo>
                  <a:lnTo>
                    <a:pt x="12191999" y="4171"/>
                  </a:lnTo>
                  <a:lnTo>
                    <a:pt x="8600846" y="4171"/>
                  </a:lnTo>
                  <a:lnTo>
                    <a:pt x="8223451" y="647700"/>
                  </a:lnTo>
                  <a:lnTo>
                    <a:pt x="0" y="647700"/>
                  </a:lnTo>
                  <a:close/>
                </a:path>
              </a:pathLst>
            </a:custGeom>
            <a:solidFill>
              <a:srgbClr val="3D89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  <p:sp>
          <p:nvSpPr>
            <p:cNvPr id="8" name="任意多边形 5"/>
            <p:cNvSpPr/>
            <p:nvPr/>
          </p:nvSpPr>
          <p:spPr>
            <a:xfrm>
              <a:off x="-1" y="191961"/>
              <a:ext cx="9144000" cy="524009"/>
            </a:xfrm>
            <a:custGeom>
              <a:avLst/>
              <a:gdLst>
                <a:gd name="connsiteX0" fmla="*/ 8649011 w 12192000"/>
                <a:gd name="connsiteY0" fmla="*/ 0 h 698678"/>
                <a:gd name="connsiteX1" fmla="*/ 12192000 w 12192000"/>
                <a:gd name="connsiteY1" fmla="*/ 0 h 698678"/>
                <a:gd name="connsiteX2" fmla="*/ 12192000 w 12192000"/>
                <a:gd name="connsiteY2" fmla="*/ 45719 h 698678"/>
                <a:gd name="connsiteX3" fmla="*/ 8689612 w 12192000"/>
                <a:gd name="connsiteY3" fmla="*/ 45719 h 698678"/>
                <a:gd name="connsiteX4" fmla="*/ 8309954 w 12192000"/>
                <a:gd name="connsiteY4" fmla="*/ 698678 h 698678"/>
                <a:gd name="connsiteX5" fmla="*/ 8149486 w 12192000"/>
                <a:gd name="connsiteY5" fmla="*/ 698678 h 698678"/>
                <a:gd name="connsiteX6" fmla="*/ 8149901 w 12192000"/>
                <a:gd name="connsiteY6" fmla="*/ 697970 h 698678"/>
                <a:gd name="connsiteX7" fmla="*/ 0 w 12192000"/>
                <a:gd name="connsiteY7" fmla="*/ 697970 h 698678"/>
                <a:gd name="connsiteX8" fmla="*/ 0 w 12192000"/>
                <a:gd name="connsiteY8" fmla="*/ 652251 h 698678"/>
                <a:gd name="connsiteX9" fmla="*/ 8176713 w 12192000"/>
                <a:gd name="connsiteY9" fmla="*/ 652251 h 698678"/>
                <a:gd name="connsiteX10" fmla="*/ 8557764 w 12192000"/>
                <a:gd name="connsiteY10" fmla="*/ 2487 h 698678"/>
                <a:gd name="connsiteX11" fmla="*/ 8649011 w 12192000"/>
                <a:gd name="connsiteY11" fmla="*/ 2487 h 698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92000" h="698678">
                  <a:moveTo>
                    <a:pt x="8649011" y="0"/>
                  </a:moveTo>
                  <a:lnTo>
                    <a:pt x="12192000" y="0"/>
                  </a:lnTo>
                  <a:lnTo>
                    <a:pt x="12192000" y="45719"/>
                  </a:lnTo>
                  <a:lnTo>
                    <a:pt x="8689612" y="45719"/>
                  </a:lnTo>
                  <a:lnTo>
                    <a:pt x="8309954" y="698678"/>
                  </a:lnTo>
                  <a:lnTo>
                    <a:pt x="8149486" y="698678"/>
                  </a:lnTo>
                  <a:lnTo>
                    <a:pt x="8149901" y="697970"/>
                  </a:lnTo>
                  <a:lnTo>
                    <a:pt x="0" y="697970"/>
                  </a:lnTo>
                  <a:lnTo>
                    <a:pt x="0" y="652251"/>
                  </a:lnTo>
                  <a:lnTo>
                    <a:pt x="8176713" y="652251"/>
                  </a:lnTo>
                  <a:lnTo>
                    <a:pt x="8557764" y="2487"/>
                  </a:lnTo>
                  <a:lnTo>
                    <a:pt x="8649011" y="2487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  <p:sp>
          <p:nvSpPr>
            <p:cNvPr id="9" name="任意多边形 6"/>
            <p:cNvSpPr/>
            <p:nvPr/>
          </p:nvSpPr>
          <p:spPr>
            <a:xfrm>
              <a:off x="6231369" y="228409"/>
              <a:ext cx="2914416" cy="485775"/>
            </a:xfrm>
            <a:custGeom>
              <a:avLst/>
              <a:gdLst>
                <a:gd name="connsiteX0" fmla="*/ 379841 w 3885888"/>
                <a:gd name="connsiteY0" fmla="*/ 0 h 647700"/>
                <a:gd name="connsiteX1" fmla="*/ 3885888 w 3885888"/>
                <a:gd name="connsiteY1" fmla="*/ 0 h 647700"/>
                <a:gd name="connsiteX2" fmla="*/ 3885888 w 3885888"/>
                <a:gd name="connsiteY2" fmla="*/ 647700 h 647700"/>
                <a:gd name="connsiteX3" fmla="*/ 0 w 3885888"/>
                <a:gd name="connsiteY3" fmla="*/ 647700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5888" h="647700">
                  <a:moveTo>
                    <a:pt x="379841" y="0"/>
                  </a:moveTo>
                  <a:lnTo>
                    <a:pt x="3885888" y="0"/>
                  </a:lnTo>
                  <a:lnTo>
                    <a:pt x="3885888" y="647700"/>
                  </a:lnTo>
                  <a:lnTo>
                    <a:pt x="0" y="647700"/>
                  </a:lnTo>
                  <a:close/>
                </a:path>
              </a:pathLst>
            </a:custGeom>
            <a:solidFill>
              <a:srgbClr val="3D89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</p:grpSp>
      <p:sp>
        <p:nvSpPr>
          <p:cNvPr id="11" name="文本占位符 10"/>
          <p:cNvSpPr>
            <a:spLocks noGrp="1"/>
          </p:cNvSpPr>
          <p:nvPr>
            <p:ph type="body" sz="quarter" idx="13" hasCustomPrompt="1"/>
          </p:nvPr>
        </p:nvSpPr>
        <p:spPr>
          <a:xfrm>
            <a:off x="392113" y="948743"/>
            <a:ext cx="7094537" cy="544391"/>
          </a:xfr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3" name="内容占位符 12"/>
          <p:cNvSpPr>
            <a:spLocks noGrp="1"/>
          </p:cNvSpPr>
          <p:nvPr>
            <p:ph sz="quarter" idx="14" hasCustomPrompt="1"/>
          </p:nvPr>
        </p:nvSpPr>
        <p:spPr>
          <a:xfrm>
            <a:off x="628650" y="1863725"/>
            <a:ext cx="7886700" cy="40449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4" name="矩形 13"/>
          <p:cNvSpPr/>
          <p:nvPr userDrawn="1"/>
        </p:nvSpPr>
        <p:spPr>
          <a:xfrm>
            <a:off x="0" y="6123215"/>
            <a:ext cx="9144000" cy="54614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0" y="6669360"/>
            <a:ext cx="9144000" cy="188640"/>
          </a:xfrm>
          <a:prstGeom prst="rect">
            <a:avLst/>
          </a:prstGeom>
          <a:solidFill>
            <a:srgbClr val="3D89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  <a:t>2025/7/30</a:t>
            </a:fld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  <a:t>‹#›</a:t>
            </a:fld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0" y="1997136"/>
            <a:ext cx="7084431" cy="1791128"/>
            <a:chOff x="-1" y="2037922"/>
            <a:chExt cx="12192763" cy="1791128"/>
          </a:xfrm>
        </p:grpSpPr>
        <p:sp>
          <p:nvSpPr>
            <p:cNvPr id="6" name="矩形 5"/>
            <p:cNvSpPr/>
            <p:nvPr/>
          </p:nvSpPr>
          <p:spPr>
            <a:xfrm>
              <a:off x="762" y="2038350"/>
              <a:ext cx="12192000" cy="17907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762" y="2037922"/>
              <a:ext cx="12192000" cy="720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-1" y="3752264"/>
              <a:ext cx="12192000" cy="720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</p:grp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391"/>
          <a:stretch>
            <a:fillRect/>
          </a:stretch>
        </p:blipFill>
        <p:spPr>
          <a:xfrm flipH="1">
            <a:off x="6143625" y="0"/>
            <a:ext cx="3000375" cy="6858000"/>
          </a:xfrm>
          <a:prstGeom prst="rect">
            <a:avLst/>
          </a:prstGeom>
        </p:spPr>
      </p:pic>
      <p:sp>
        <p:nvSpPr>
          <p:cNvPr id="10" name="文本框 5"/>
          <p:cNvSpPr txBox="1"/>
          <p:nvPr userDrawn="1"/>
        </p:nvSpPr>
        <p:spPr>
          <a:xfrm>
            <a:off x="1371600" y="2328817"/>
            <a:ext cx="418576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7200" spc="600" dirty="0">
                <a:solidFill>
                  <a:srgbClr val="FFFFFF"/>
                </a:solidFill>
              </a:rPr>
              <a:t>感谢聆听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3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7" Type="http://schemas.openxmlformats.org/officeDocument/2006/relationships/tags" Target="../tags/tag6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3" Type="http://schemas.openxmlformats.org/officeDocument/2006/relationships/slideLayout" Target="../slideLayouts/slideLayout11.xml"/><Relationship Id="rId7" Type="http://schemas.openxmlformats.org/officeDocument/2006/relationships/tags" Target="../tags/tag8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tags" Target="../tags/tag7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ags" Target="../tags/tag12.xml"/><Relationship Id="rId3" Type="http://schemas.openxmlformats.org/officeDocument/2006/relationships/slideLayout" Target="../slideLayouts/slideLayout15.xml"/><Relationship Id="rId7" Type="http://schemas.openxmlformats.org/officeDocument/2006/relationships/tags" Target="../tags/tag11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tags" Target="../tags/tag10.xml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8" name="文本占位符 2"/>
          <p:cNvSpPr>
            <a:spLocks noGrp="1"/>
          </p:cNvSpPr>
          <p:nvPr>
            <p:ph type="body" idx="1"/>
            <p:custDataLst>
              <p:tags r:id="rId8"/>
            </p:custDataLst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SimHei" panose="02010609060101010101" pitchFamily="49" charset="-122"/>
                <a:ea typeface="SimHei" panose="02010609060101010101" pitchFamily="49" charset="-122"/>
              </a:defRPr>
            </a:lvl1pPr>
          </a:lstStyle>
          <a:p>
            <a:fld id="{D997B5FA-0921-464F-AAE1-844C04324D75}" type="datetimeFigureOut">
              <a:rPr lang="zh-CN" altLang="en-US" smtClean="0"/>
              <a:t>2025/7/30</a:t>
            </a:fld>
            <a:endParaRPr lang="zh-CN" altLang="en-US" dirty="0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SimHei" panose="02010609060101010101" pitchFamily="49" charset="-122"/>
                <a:ea typeface="SimHei" panose="02010609060101010101" pitchFamily="49" charset="-122"/>
              </a:defRPr>
            </a:lvl1pPr>
          </a:lstStyle>
          <a:p>
            <a:endParaRPr lang="zh-CN" altLang="en-US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SimHei" panose="02010609060101010101" pitchFamily="49" charset="-122"/>
                <a:ea typeface="SimHei" panose="02010609060101010101" pitchFamily="49" charset="-122"/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KSO_TEMPLATE" hidden="1"/>
          <p:cNvSpPr/>
          <p:nvPr userDrawn="1">
            <p:custDataLst>
              <p:tags r:id="rId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8" name="文本占位符 2"/>
          <p:cNvSpPr>
            <a:spLocks noGrp="1"/>
          </p:cNvSpPr>
          <p:nvPr>
            <p:ph type="body" idx="1"/>
            <p:custDataLst>
              <p:tags r:id="rId6"/>
            </p:custDataLst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SimHei" panose="02010609060101010101" pitchFamily="49" charset="-122"/>
                <a:ea typeface="SimHei" panose="02010609060101010101" pitchFamily="49" charset="-122"/>
              </a:defRPr>
            </a:lvl1pPr>
          </a:lstStyle>
          <a:p>
            <a:fld id="{D997B5FA-0921-464F-AAE1-844C04324D75}" type="datetimeFigureOut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  <a:t>2025/7/30</a:t>
            </a:fld>
            <a:endParaRPr lang="zh-CN" altLang="en-US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SimHei" panose="02010609060101010101" pitchFamily="49" charset="-122"/>
                <a:ea typeface="SimHei" panose="02010609060101010101" pitchFamily="49" charset="-122"/>
              </a:defRPr>
            </a:lvl1pPr>
          </a:lstStyle>
          <a:p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SimHei" panose="02010609060101010101" pitchFamily="49" charset="-122"/>
                <a:ea typeface="SimHei" panose="02010609060101010101" pitchFamily="49" charset="-122"/>
              </a:defRPr>
            </a:lvl1pPr>
          </a:lstStyle>
          <a:p>
            <a:fld id="{565CE74E-AB26-4998-AD42-012C4C1AD076}" type="slidenum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  <a:t>‹#›</a:t>
            </a:fld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2" name="KSO_TEMPLATE" hidden="1"/>
          <p:cNvSpPr/>
          <p:nvPr userDrawn="1">
            <p:custDataLst>
              <p:tags r:id="rId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8" name="文本占位符 2"/>
          <p:cNvSpPr>
            <a:spLocks noGrp="1"/>
          </p:cNvSpPr>
          <p:nvPr>
            <p:ph type="body" idx="1"/>
            <p:custDataLst>
              <p:tags r:id="rId7"/>
            </p:custDataLst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SimHei" panose="02010609060101010101" pitchFamily="49" charset="-122"/>
                <a:ea typeface="SimHei" panose="02010609060101010101" pitchFamily="49" charset="-122"/>
              </a:defRPr>
            </a:lvl1pPr>
          </a:lstStyle>
          <a:p>
            <a:fld id="{D997B5FA-0921-464F-AAE1-844C04324D75}" type="datetimeFigureOut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  <a:t>2025/7/30</a:t>
            </a:fld>
            <a:endParaRPr lang="zh-CN" altLang="en-US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SimHei" panose="02010609060101010101" pitchFamily="49" charset="-122"/>
                <a:ea typeface="SimHei" panose="02010609060101010101" pitchFamily="49" charset="-122"/>
              </a:defRPr>
            </a:lvl1pPr>
          </a:lstStyle>
          <a:p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SimHei" panose="02010609060101010101" pitchFamily="49" charset="-122"/>
                <a:ea typeface="SimHei" panose="02010609060101010101" pitchFamily="49" charset="-122"/>
              </a:defRPr>
            </a:lvl1pPr>
          </a:lstStyle>
          <a:p>
            <a:fld id="{565CE74E-AB26-4998-AD42-012C4C1AD076}" type="slidenum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  <a:t>‹#›</a:t>
            </a:fld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2" name="KSO_TEMPLATE" hidden="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8" name="文本占位符 2"/>
          <p:cNvSpPr>
            <a:spLocks noGrp="1"/>
          </p:cNvSpPr>
          <p:nvPr>
            <p:ph type="body" idx="1"/>
            <p:custDataLst>
              <p:tags r:id="rId7"/>
            </p:custDataLst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SimHei" panose="02010609060101010101" pitchFamily="49" charset="-122"/>
                <a:ea typeface="SimHei" panose="02010609060101010101" pitchFamily="49" charset="-122"/>
              </a:defRPr>
            </a:lvl1pPr>
          </a:lstStyle>
          <a:p>
            <a:fld id="{D997B5FA-0921-464F-AAE1-844C04324D75}" type="datetimeFigureOut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  <a:t>2025/7/30</a:t>
            </a:fld>
            <a:endParaRPr lang="zh-CN" altLang="en-US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SimHei" panose="02010609060101010101" pitchFamily="49" charset="-122"/>
                <a:ea typeface="SimHei" panose="02010609060101010101" pitchFamily="49" charset="-122"/>
              </a:defRPr>
            </a:lvl1pPr>
          </a:lstStyle>
          <a:p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SimHei" panose="02010609060101010101" pitchFamily="49" charset="-122"/>
                <a:ea typeface="SimHei" panose="02010609060101010101" pitchFamily="49" charset="-122"/>
              </a:defRPr>
            </a:lvl1pPr>
          </a:lstStyle>
          <a:p>
            <a:fld id="{565CE74E-AB26-4998-AD42-012C4C1AD076}" type="slidenum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  <a:t>‹#›</a:t>
            </a:fld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2" name="KSO_TEMPLATE" hidden="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/>
        </p:nvSpPr>
        <p:spPr>
          <a:xfrm>
            <a:off x="-7143" y="-9147"/>
            <a:ext cx="9158091" cy="382199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 sz="1355" dirty="0" smtClean="0">
                <a:solidFill>
                  <a:prstClr val="white"/>
                </a:solidFill>
              </a:rPr>
              <a:t>Python</a:t>
            </a:r>
            <a:r>
              <a:rPr lang="zh-CN" altLang="en-US" sz="1355" dirty="0" smtClean="0">
                <a:solidFill>
                  <a:prstClr val="white"/>
                </a:solidFill>
              </a:rPr>
              <a:t>教材</a:t>
            </a:r>
            <a:endParaRPr lang="zh-CN" altLang="en-US" sz="1355" dirty="0">
              <a:solidFill>
                <a:prstClr val="white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530833" y="2560405"/>
            <a:ext cx="8392041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72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Python</a:t>
            </a:r>
            <a:r>
              <a:rPr lang="zh-CN" altLang="en-US" sz="72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入门</a:t>
            </a:r>
            <a:r>
              <a:rPr lang="en-US" altLang="zh-CN" sz="72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-Outlook</a:t>
            </a:r>
            <a:endParaRPr lang="zh-TW" altLang="en-US" sz="7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矩形 2"/>
          <p:cNvSpPr/>
          <p:nvPr/>
        </p:nvSpPr>
        <p:spPr>
          <a:xfrm>
            <a:off x="6535265" y="5710535"/>
            <a:ext cx="2146357" cy="107721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Wen-</a:t>
            </a:r>
            <a:r>
              <a:rPr lang="en-US" altLang="zh-CN" sz="2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yan_Sun</a:t>
            </a:r>
            <a:endParaRPr lang="en-US" altLang="zh-CN" sz="24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en-US" altLang="zh-CN" sz="24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r"/>
            <a:r>
              <a:rPr lang="en-US" altLang="zh-TW" sz="1600" b="1" cap="none" spc="0" dirty="0" smtClean="0">
                <a:ln w="0"/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2022/12/09</a:t>
            </a:r>
            <a:endParaRPr lang="zh-TW" altLang="en-US" sz="16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898424" y="1342470"/>
            <a:ext cx="5536096" cy="195438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## </a:t>
            </a:r>
            <a:r>
              <a:rPr kumimoji="0" lang="zh-CN" altLang="zh-CN" sz="11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获取一级文件夹名称</a:t>
            </a:r>
            <a:r>
              <a:rPr kumimoji="0" lang="zh-CN" altLang="zh-CN" sz="11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:</a:t>
            </a:r>
            <a:br>
              <a:rPr kumimoji="0" lang="zh-CN" altLang="zh-CN" sz="11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1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# </a:t>
            </a:r>
            <a:r>
              <a:rPr kumimoji="0" lang="zh-CN" altLang="zh-CN" sz="11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引用</a:t>
            </a:r>
            <a:r>
              <a:rPr kumimoji="0" lang="zh-CN" altLang="zh-CN" sz="11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Outlook</a:t>
            </a:r>
            <a:r>
              <a:rPr kumimoji="0" lang="zh-CN" altLang="zh-CN" sz="11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第一種</a:t>
            </a:r>
            <a:br>
              <a:rPr kumimoji="0" lang="zh-CN" altLang="zh-CN" sz="11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kumimoji="0" lang="zh-CN" altLang="zh-CN" sz="11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# from win32com.client.gencache import EnsureDispatch as Dispatch</a:t>
            </a:r>
            <a:br>
              <a:rPr kumimoji="0" lang="zh-CN" altLang="zh-CN" sz="11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1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# outlook=Dispatch("Outlook.Application")</a:t>
            </a:r>
            <a:br>
              <a:rPr kumimoji="0" lang="zh-CN" altLang="zh-CN" sz="11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1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# </a:t>
            </a:r>
            <a:r>
              <a:rPr kumimoji="0" lang="zh-CN" altLang="zh-CN" sz="11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引用</a:t>
            </a:r>
            <a:r>
              <a:rPr kumimoji="0" lang="zh-CN" altLang="zh-CN" sz="11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Outlook</a:t>
            </a:r>
            <a:r>
              <a:rPr kumimoji="0" lang="zh-CN" altLang="zh-CN" sz="11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第二種（上课所用的方法）</a:t>
            </a:r>
            <a:br>
              <a:rPr kumimoji="0" lang="zh-CN" altLang="zh-CN" sz="11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kumimoji="0" lang="zh-CN" altLang="zh-CN" sz="11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import </a:t>
            </a:r>
            <a:r>
              <a:rPr kumimoji="0" lang="zh-CN" altLang="zh-CN" sz="11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win32com.client </a:t>
            </a:r>
            <a:r>
              <a:rPr kumimoji="0" lang="zh-CN" altLang="zh-CN" sz="11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as </a:t>
            </a:r>
            <a:r>
              <a:rPr kumimoji="0" lang="zh-CN" altLang="zh-CN" sz="11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win32</a:t>
            </a:r>
            <a:br>
              <a:rPr kumimoji="0" lang="zh-CN" altLang="zh-CN" sz="11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1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outlook=win32.Dispatch(</a:t>
            </a:r>
            <a:r>
              <a:rPr kumimoji="0" lang="zh-CN" altLang="zh-CN" sz="1100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"Outlook.Application"</a:t>
            </a:r>
            <a:r>
              <a:rPr kumimoji="0" lang="zh-CN" altLang="zh-CN" sz="11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</a:t>
            </a:r>
            <a:br>
              <a:rPr kumimoji="0" lang="zh-CN" altLang="zh-CN" sz="11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1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mapi=outlook.GetNamespace(</a:t>
            </a:r>
            <a:r>
              <a:rPr kumimoji="0" lang="zh-CN" altLang="zh-CN" sz="1100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"MAPI"</a:t>
            </a:r>
            <a:r>
              <a:rPr kumimoji="0" lang="zh-CN" altLang="zh-CN" sz="11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</a:t>
            </a:r>
            <a:br>
              <a:rPr kumimoji="0" lang="zh-CN" altLang="zh-CN" sz="11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1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Accounts=mapi.Folders</a:t>
            </a:r>
            <a:br>
              <a:rPr kumimoji="0" lang="zh-CN" altLang="zh-CN" sz="11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1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for </a:t>
            </a:r>
            <a:r>
              <a:rPr kumimoji="0" lang="zh-CN" altLang="zh-CN" sz="11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Account_Name </a:t>
            </a:r>
            <a:r>
              <a:rPr kumimoji="0" lang="zh-CN" altLang="zh-CN" sz="11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in </a:t>
            </a:r>
            <a:r>
              <a:rPr kumimoji="0" lang="zh-CN" altLang="zh-CN" sz="11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Accounts:</a:t>
            </a:r>
            <a:br>
              <a:rPr kumimoji="0" lang="zh-CN" altLang="zh-CN" sz="11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1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1100" b="0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  <a:ea typeface="JetBrains Mono"/>
              </a:rPr>
              <a:t>print</a:t>
            </a:r>
            <a:r>
              <a:rPr kumimoji="0" lang="zh-CN" altLang="zh-CN" sz="11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(Account_Name.Name)</a:t>
            </a:r>
            <a:endParaRPr kumimoji="0" lang="zh-CN" altLang="zh-CN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文字方塊 1"/>
          <p:cNvSpPr txBox="1"/>
          <p:nvPr/>
        </p:nvSpPr>
        <p:spPr>
          <a:xfrm>
            <a:off x="64982" y="134607"/>
            <a:ext cx="1833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Python</a:t>
            </a:r>
            <a:r>
              <a:rPr lang="zh-CN" altLang="en-US" dirty="0" smtClean="0">
                <a:solidFill>
                  <a:schemeClr val="bg1"/>
                </a:solidFill>
              </a:rPr>
              <a:t>教材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6947807" y="320272"/>
            <a:ext cx="2008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bg1"/>
                </a:solidFill>
              </a:rPr>
              <a:t>读取</a:t>
            </a:r>
            <a:r>
              <a:rPr lang="en-US" altLang="zh-CN" dirty="0" smtClean="0">
                <a:solidFill>
                  <a:schemeClr val="bg1"/>
                </a:solidFill>
              </a:rPr>
              <a:t>Outlook</a:t>
            </a:r>
            <a:r>
              <a:rPr lang="zh-CN" altLang="en-US" dirty="0" smtClean="0">
                <a:solidFill>
                  <a:schemeClr val="bg1"/>
                </a:solidFill>
              </a:rPr>
              <a:t>内容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67393" y="823380"/>
            <a:ext cx="8327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读取一级文件夹名称：</a:t>
            </a:r>
            <a:endParaRPr lang="en-US" altLang="zh-CN" dirty="0" smtClean="0"/>
          </a:p>
        </p:txBody>
      </p:sp>
      <p:pic>
        <p:nvPicPr>
          <p:cNvPr id="17" name="圖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44" y="1261929"/>
            <a:ext cx="8041821" cy="2115464"/>
          </a:xfrm>
          <a:prstGeom prst="rect">
            <a:avLst/>
          </a:prstGeom>
        </p:spPr>
      </p:pic>
      <p:sp>
        <p:nvSpPr>
          <p:cNvPr id="18" name="文字方塊 17"/>
          <p:cNvSpPr txBox="1"/>
          <p:nvPr/>
        </p:nvSpPr>
        <p:spPr>
          <a:xfrm>
            <a:off x="942974" y="4371641"/>
            <a:ext cx="1347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读取二级文件夹名称：</a:t>
            </a:r>
            <a:endParaRPr lang="en-US" altLang="zh-CN" dirty="0" smtClean="0"/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3747052" y="3636003"/>
            <a:ext cx="3985592" cy="220060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from 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win32com.client.gencache 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import 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EnsureDispatch 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as 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Dispatch</a:t>
            </a:r>
            <a:b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outlook=Dispatch(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"Outlook.Application"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</a:t>
            </a:r>
            <a:b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mapi=outlook.GetNamespace(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"MAPI"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</a:t>
            </a:r>
            <a:b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Accounts=mapi.Folders</a:t>
            </a:r>
            <a:b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for 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Account_Name 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in 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Accounts:</a:t>
            </a:r>
            <a:b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if 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Account_Name.Name==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"2022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年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:</a:t>
            </a:r>
            <a:b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  <a:ea typeface="JetBrains Mono"/>
              </a:rPr>
              <a:t>print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(Account_Name.Name+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包含以下文件夹：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</a:t>
            </a:r>
            <a:b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Level_1_Names=Account_Name.Folders</a:t>
            </a:r>
            <a:b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for 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Level_1_Name 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in 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Level_1_Names:</a:t>
            </a:r>
            <a:b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    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  <a:ea typeface="JetBrains Mono"/>
              </a:rPr>
              <a:t>print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(Level_1_Name.Name)</a:t>
            </a:r>
            <a:endParaRPr kumimoji="0" lang="en-US" altLang="zh-CN" sz="900" b="0" i="0" u="none" strike="noStrike" cap="none" normalizeH="0" baseline="0" dirty="0" smtClean="0">
              <a:ln>
                <a:noFill/>
              </a:ln>
              <a:solidFill>
                <a:srgbClr val="080808"/>
              </a:solidFill>
              <a:effectLst/>
              <a:latin typeface="Arial Unicode MS"/>
              <a:ea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sz="900" dirty="0">
              <a:solidFill>
                <a:srgbClr val="080808"/>
              </a:solidFill>
              <a:latin typeface="Arial Unicode MS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900" dirty="0">
                <a:solidFill>
                  <a:srgbClr val="080808"/>
                </a:solidFill>
                <a:latin typeface="Arial Unicode MS"/>
              </a:rPr>
              <a:t># ###</a:t>
            </a:r>
            <a:r>
              <a:rPr lang="zh-CN" altLang="en-US" sz="900" dirty="0">
                <a:solidFill>
                  <a:srgbClr val="080808"/>
                </a:solidFill>
                <a:latin typeface="Arial Unicode MS"/>
              </a:rPr>
              <a:t>直接獲取二级文件夹内文件夾</a:t>
            </a:r>
            <a:r>
              <a:rPr lang="en-US" altLang="zh-CN" sz="900" dirty="0">
                <a:solidFill>
                  <a:srgbClr val="080808"/>
                </a:solidFill>
                <a:latin typeface="Arial Unicode MS"/>
              </a:rPr>
              <a:t>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900" dirty="0">
                <a:solidFill>
                  <a:srgbClr val="080808"/>
                </a:solidFill>
                <a:latin typeface="Arial Unicode MS"/>
              </a:rPr>
              <a:t>for </a:t>
            </a:r>
            <a:r>
              <a:rPr lang="en-US" altLang="zh-CN" sz="900" dirty="0" err="1">
                <a:solidFill>
                  <a:srgbClr val="080808"/>
                </a:solidFill>
                <a:latin typeface="Arial Unicode MS"/>
              </a:rPr>
              <a:t>i</a:t>
            </a:r>
            <a:r>
              <a:rPr lang="en-US" altLang="zh-CN" sz="900" dirty="0">
                <a:solidFill>
                  <a:srgbClr val="080808"/>
                </a:solidFill>
                <a:latin typeface="Arial Unicode MS"/>
              </a:rPr>
              <a:t> in Accounts["2022</a:t>
            </a:r>
            <a:r>
              <a:rPr lang="zh-CN" altLang="en-US" sz="900" dirty="0">
                <a:solidFill>
                  <a:srgbClr val="080808"/>
                </a:solidFill>
                <a:latin typeface="Arial Unicode MS"/>
              </a:rPr>
              <a:t>年</a:t>
            </a:r>
            <a:r>
              <a:rPr lang="en-US" altLang="zh-CN" sz="900" dirty="0">
                <a:solidFill>
                  <a:srgbClr val="080808"/>
                </a:solidFill>
                <a:latin typeface="Arial Unicode MS"/>
              </a:rPr>
              <a:t>"].Folders["Python-Outlook"].Folders: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900" dirty="0">
                <a:solidFill>
                  <a:srgbClr val="080808"/>
                </a:solidFill>
                <a:latin typeface="Arial Unicode MS"/>
              </a:rPr>
              <a:t>    print(</a:t>
            </a:r>
            <a:r>
              <a:rPr lang="en-US" altLang="zh-CN" sz="900" dirty="0" err="1">
                <a:solidFill>
                  <a:srgbClr val="080808"/>
                </a:solidFill>
                <a:latin typeface="Arial Unicode MS"/>
              </a:rPr>
              <a:t>i.Name</a:t>
            </a:r>
            <a:r>
              <a:rPr lang="en-US" altLang="zh-CN" sz="900" dirty="0">
                <a:solidFill>
                  <a:srgbClr val="080808"/>
                </a:solidFill>
                <a:latin typeface="Arial Unicode MS"/>
              </a:rPr>
              <a:t>)</a:t>
            </a:r>
            <a:endParaRPr kumimoji="0" lang="en-US" altLang="zh-CN" sz="900" b="0" i="0" u="none" strike="noStrike" cap="none" normalizeH="0" baseline="0" dirty="0" smtClean="0">
              <a:ln>
                <a:noFill/>
              </a:ln>
              <a:solidFill>
                <a:srgbClr val="080808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9" name="圖片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0390" y="3446610"/>
            <a:ext cx="6124575" cy="2579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53274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755353" y="2382794"/>
            <a:ext cx="5530063" cy="24468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# ### </a:t>
            </a:r>
            <a:r>
              <a:rPr kumimoji="0" lang="zh-CN" altLang="zh-CN" sz="9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获取二级文件夹内邮件主旨</a:t>
            </a:r>
            <a:r>
              <a:rPr kumimoji="0" lang="zh-CN" altLang="zh-CN" sz="9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:</a:t>
            </a:r>
            <a:br>
              <a:rPr kumimoji="0" lang="zh-CN" altLang="zh-CN" sz="9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from 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win32com.client.gencache 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import 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EnsureDispatch 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as 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Dispatch</a:t>
            </a:r>
            <a:b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outlook=Dispatch(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"Outlook.Application"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</a:t>
            </a:r>
            <a:b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mapi=outlook.GetNamespace(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"MAPI"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</a:t>
            </a:r>
            <a:b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Accounts=mapi.Folders</a:t>
            </a:r>
            <a:b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for 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Account_Name 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in 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Accounts:</a:t>
            </a:r>
            <a:b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if 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Account_Name.Name==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"2022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年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:</a:t>
            </a:r>
            <a:b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Level_1_Names=Account_Name.Folders</a:t>
            </a:r>
            <a:b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for 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Level_1_Name 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in 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Level_1_Names:</a:t>
            </a:r>
            <a:b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    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if 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Level_1_Name.Name==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"Python-Outlook"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:</a:t>
            </a:r>
            <a:b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        Level_2_Names = Level_1_Name.Folders</a:t>
            </a:r>
            <a:b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        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for 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Level_2_Name 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in 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Level_2_Names:</a:t>
            </a:r>
            <a:b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            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if 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Level_2_Name.Name==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"123"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:</a:t>
            </a:r>
            <a:b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                Mail_1_Messages=Level_1_Name.Items</a:t>
            </a:r>
            <a:b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                Mail_1_Messages.Sort(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"[ReceivedTime]"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True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  </a:t>
            </a:r>
            <a:r>
              <a:rPr kumimoji="0" lang="zh-CN" altLang="zh-CN" sz="9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#</a:t>
            </a:r>
            <a:r>
              <a:rPr kumimoji="0" lang="zh-CN" altLang="zh-CN" sz="9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按收到时间排序</a:t>
            </a:r>
            <a:r>
              <a:rPr kumimoji="0" lang="zh-CN" altLang="zh-CN" sz="9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,True:</a:t>
            </a:r>
            <a:r>
              <a:rPr kumimoji="0" lang="zh-CN" altLang="zh-CN" sz="9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最近到最晚</a:t>
            </a:r>
            <a:br>
              <a:rPr kumimoji="0" lang="zh-CN" altLang="zh-CN" sz="9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kumimoji="0" lang="zh-CN" altLang="zh-CN" sz="9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                        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for 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Mail_1_Message 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in 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Mail_1_Messages:</a:t>
            </a:r>
            <a:b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                    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  <a:ea typeface="JetBrains Mono"/>
              </a:rPr>
              <a:t>print</a:t>
            </a:r>
            <a:r>
              <a:rPr kumimoji="0" lang="zh-CN" altLang="zh-CN" sz="9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(Mail_1_Message.Subject)</a:t>
            </a:r>
            <a:endParaRPr kumimoji="0" lang="zh-CN" altLang="zh-CN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文字方塊 1"/>
          <p:cNvSpPr txBox="1"/>
          <p:nvPr/>
        </p:nvSpPr>
        <p:spPr>
          <a:xfrm>
            <a:off x="64982" y="134607"/>
            <a:ext cx="1833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Python</a:t>
            </a:r>
            <a:r>
              <a:rPr lang="zh-CN" altLang="en-US" dirty="0" smtClean="0">
                <a:solidFill>
                  <a:schemeClr val="bg1"/>
                </a:solidFill>
              </a:rPr>
              <a:t>教材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6947807" y="320272"/>
            <a:ext cx="2008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bg1"/>
                </a:solidFill>
              </a:rPr>
              <a:t>读取</a:t>
            </a:r>
            <a:r>
              <a:rPr lang="en-US" altLang="zh-CN" dirty="0" smtClean="0">
                <a:solidFill>
                  <a:schemeClr val="bg1"/>
                </a:solidFill>
              </a:rPr>
              <a:t>Outlook</a:t>
            </a:r>
            <a:r>
              <a:rPr lang="zh-CN" altLang="en-US" dirty="0" smtClean="0">
                <a:solidFill>
                  <a:schemeClr val="bg1"/>
                </a:solidFill>
              </a:rPr>
              <a:t>内容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2926564" y="1372103"/>
            <a:ext cx="29473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读取二级文件夹内邮件主旨：</a:t>
            </a:r>
            <a:endParaRPr lang="en-US" altLang="zh-CN" dirty="0" smtClean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93" y="2174750"/>
            <a:ext cx="7358185" cy="2862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25409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64982" y="134607"/>
            <a:ext cx="1833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Python</a:t>
            </a:r>
            <a:r>
              <a:rPr lang="zh-CN" altLang="en-US" dirty="0" smtClean="0">
                <a:solidFill>
                  <a:schemeClr val="bg1"/>
                </a:solidFill>
              </a:rPr>
              <a:t>教材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6947807" y="320272"/>
            <a:ext cx="2008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bg1"/>
                </a:solidFill>
              </a:rPr>
              <a:t>读取</a:t>
            </a:r>
            <a:r>
              <a:rPr lang="en-US" altLang="zh-CN" dirty="0" smtClean="0">
                <a:solidFill>
                  <a:schemeClr val="bg1"/>
                </a:solidFill>
              </a:rPr>
              <a:t>Outlook</a:t>
            </a:r>
            <a:r>
              <a:rPr lang="zh-CN" altLang="en-US" dirty="0" smtClean="0">
                <a:solidFill>
                  <a:schemeClr val="bg1"/>
                </a:solidFill>
              </a:rPr>
              <a:t>内容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3418742" y="1045508"/>
            <a:ext cx="43985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Mail Item</a:t>
            </a:r>
            <a:r>
              <a:rPr lang="zh-CN" altLang="en-US" dirty="0" smtClean="0"/>
              <a:t>的一些属性：</a:t>
            </a:r>
            <a:endParaRPr lang="zh-TW" alt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149350" y="2020888"/>
          <a:ext cx="6845300" cy="281654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33700">
                  <a:extLst>
                    <a:ext uri="{9D8B030D-6E8A-4147-A177-3AD203B41FA5}">
                      <a16:colId xmlns:a16="http://schemas.microsoft.com/office/drawing/2014/main" val="2914287167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948757736"/>
                    </a:ext>
                  </a:extLst>
                </a:gridCol>
                <a:gridCol w="2387600">
                  <a:extLst>
                    <a:ext uri="{9D8B030D-6E8A-4147-A177-3AD203B41FA5}">
                      <a16:colId xmlns:a16="http://schemas.microsoft.com/office/drawing/2014/main" val="791602563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zh-TW" altLang="en-US" sz="1100" u="none" strike="noStrike">
                          <a:effectLst/>
                        </a:rPr>
                        <a:t>属性</a:t>
                      </a:r>
                      <a:r>
                        <a:rPr lang="en-US" altLang="zh-TW" sz="1100" u="none" strike="noStrike">
                          <a:effectLst/>
                        </a:rPr>
                        <a:t>/</a:t>
                      </a:r>
                      <a:r>
                        <a:rPr lang="zh-TW" altLang="en-US" sz="1100" u="none" strike="noStrike">
                          <a:effectLst/>
                        </a:rPr>
                        <a:t>方法</a:t>
                      </a:r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TW" altLang="en-US" sz="1100" u="none" strike="noStrike">
                          <a:effectLst/>
                        </a:rPr>
                        <a:t>注解</a:t>
                      </a:r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TW" altLang="en-US" sz="1100" u="none" strike="noStrike">
                          <a:effectLst/>
                        </a:rPr>
                        <a:t>备注</a:t>
                      </a:r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84570339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Item.CreationTime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u="none" strike="noStrike">
                          <a:effectLst/>
                        </a:rPr>
                        <a:t>创建邮件的时间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TW" altLang="en-US" sz="1100" u="none" strike="noStrike">
                          <a:effectLst/>
                        </a:rPr>
                        <a:t>　</a:t>
                      </a:r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13675157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Item.ReceivedTime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u="none" strike="noStrike">
                          <a:effectLst/>
                        </a:rPr>
                        <a:t>接收邮件的日期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100" u="none" strike="noStrike">
                          <a:effectLst/>
                        </a:rPr>
                        <a:t>[:10]:</a:t>
                      </a:r>
                      <a:r>
                        <a:rPr lang="zh-CN" altLang="en-US" sz="1100" u="none" strike="noStrike">
                          <a:effectLst/>
                        </a:rPr>
                        <a:t>日期</a:t>
                      </a:r>
                      <a:r>
                        <a:rPr lang="en-US" altLang="zh-CN" sz="1100" u="none" strike="noStrike">
                          <a:effectLst/>
                        </a:rPr>
                        <a:t>,[:19]:</a:t>
                      </a:r>
                      <a:r>
                        <a:rPr lang="zh-CN" altLang="en-US" sz="1100" u="none" strike="noStrike">
                          <a:effectLst/>
                        </a:rPr>
                        <a:t>日期</a:t>
                      </a:r>
                      <a:r>
                        <a:rPr lang="en-US" altLang="zh-CN" sz="1100" u="none" strike="noStrike">
                          <a:effectLst/>
                        </a:rPr>
                        <a:t>+</a:t>
                      </a:r>
                      <a:r>
                        <a:rPr lang="zh-CN" altLang="en-US" sz="1100" u="none" strike="noStrike">
                          <a:effectLst/>
                        </a:rPr>
                        <a:t>时间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17839841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Item.SenderName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TW" altLang="en-US" sz="1100" u="none" strike="noStrike">
                          <a:effectLst/>
                        </a:rPr>
                        <a:t>发件人</a:t>
                      </a:r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Wen-yan Sun(</a:t>
                      </a:r>
                      <a:r>
                        <a:rPr lang="zh-TW" altLang="en-US" sz="1100" u="none" strike="noStrike">
                          <a:effectLst/>
                        </a:rPr>
                        <a:t>孫文彥</a:t>
                      </a:r>
                      <a:r>
                        <a:rPr lang="en-US" altLang="zh-TW" sz="1100" u="none" strike="noStrike">
                          <a:effectLst/>
                        </a:rPr>
                        <a:t>_</a:t>
                      </a:r>
                      <a:r>
                        <a:rPr lang="en-US" sz="1100" u="none" strike="noStrike">
                          <a:effectLst/>
                        </a:rPr>
                        <a:t>PSZ)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42662613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Item.To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TW" altLang="en-US" sz="1100" u="none" strike="noStrike">
                          <a:effectLst/>
                        </a:rPr>
                        <a:t>收件人</a:t>
                      </a:r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Wen-yan Sun(</a:t>
                      </a:r>
                      <a:r>
                        <a:rPr lang="zh-TW" altLang="en-US" sz="1100" u="none" strike="noStrike">
                          <a:effectLst/>
                        </a:rPr>
                        <a:t>孫文彥</a:t>
                      </a:r>
                      <a:r>
                        <a:rPr lang="en-US" altLang="zh-TW" sz="1100" u="none" strike="noStrike">
                          <a:effectLst/>
                        </a:rPr>
                        <a:t>_</a:t>
                      </a:r>
                      <a:r>
                        <a:rPr lang="en-US" sz="1100" u="none" strike="noStrike">
                          <a:effectLst/>
                        </a:rPr>
                        <a:t>PSZ)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95018613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Item.CC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TW" altLang="en-US" sz="1100" u="none" strike="noStrike">
                          <a:effectLst/>
                        </a:rPr>
                        <a:t>副本收件人</a:t>
                      </a:r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TW" altLang="en-US" sz="1100" u="none" strike="noStrike">
                          <a:effectLst/>
                        </a:rPr>
                        <a:t>　</a:t>
                      </a:r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287734616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Item.BCC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TW" altLang="en-US" sz="1100" u="none" strike="noStrike">
                          <a:effectLst/>
                        </a:rPr>
                        <a:t>密件副本收件人</a:t>
                      </a:r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u="none" strike="noStrike">
                          <a:effectLst/>
                        </a:rPr>
                        <a:t>只有读取寄件夹邮件中邮件才会显示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86335415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Item.Subject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TW" altLang="en-US" sz="1100" u="none" strike="noStrike">
                          <a:effectLst/>
                        </a:rPr>
                        <a:t>主题</a:t>
                      </a:r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TW" altLang="en-US" sz="1100" u="none" strike="noStrike">
                          <a:effectLst/>
                        </a:rPr>
                        <a:t>　</a:t>
                      </a:r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86173697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Item.Body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TW" altLang="en-US" sz="1100" u="none" strike="noStrike">
                          <a:effectLst/>
                        </a:rPr>
                        <a:t>正文</a:t>
                      </a:r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TW" altLang="en-US" sz="1100" u="none" strike="noStrike">
                          <a:effectLst/>
                        </a:rPr>
                        <a:t>　</a:t>
                      </a:r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24412253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Item.UnRead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TW" altLang="en-US" sz="1100" u="none" strike="noStrike">
                          <a:effectLst/>
                        </a:rPr>
                        <a:t>是否已读</a:t>
                      </a:r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True:</a:t>
                      </a:r>
                      <a:r>
                        <a:rPr lang="zh-TW" altLang="en-US" sz="1100" u="none" strike="noStrike">
                          <a:effectLst/>
                        </a:rPr>
                        <a:t>未读</a:t>
                      </a:r>
                      <a:r>
                        <a:rPr lang="en-US" altLang="zh-TW" sz="1100" u="none" strike="noStrike">
                          <a:effectLst/>
                        </a:rPr>
                        <a:t>,</a:t>
                      </a:r>
                      <a:r>
                        <a:rPr lang="en-US" sz="1100" u="none" strike="noStrike">
                          <a:effectLst/>
                        </a:rPr>
                        <a:t>False:</a:t>
                      </a:r>
                      <a:r>
                        <a:rPr lang="zh-TW" altLang="en-US" sz="1100" u="none" strike="noStrike">
                          <a:effectLst/>
                        </a:rPr>
                        <a:t>已读</a:t>
                      </a:r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287530767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Item.Attachments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TW" altLang="en-US" sz="1100" u="none" strike="noStrike">
                          <a:effectLst/>
                        </a:rPr>
                        <a:t>附件集合</a:t>
                      </a:r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TW" altLang="en-US" sz="1100" u="none" strike="noStrike">
                          <a:effectLst/>
                        </a:rPr>
                        <a:t>　</a:t>
                      </a:r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28884175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attachment.FileName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TW" altLang="en-US" sz="1100" u="none" strike="noStrike">
                          <a:effectLst/>
                        </a:rPr>
                        <a:t>附件名称</a:t>
                      </a:r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attachment</a:t>
                      </a:r>
                      <a:r>
                        <a:rPr lang="zh-TW" altLang="en-US" sz="1100" u="none" strike="noStrike">
                          <a:effectLst/>
                        </a:rPr>
                        <a:t>为变量</a:t>
                      </a:r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28872865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attachment.SaveAsFile(path+attachment.FileName)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TW" altLang="en-US" sz="1100" u="none" strike="noStrike">
                          <a:effectLst/>
                        </a:rPr>
                        <a:t>保存附件</a:t>
                      </a:r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attachment,path</a:t>
                      </a:r>
                      <a:r>
                        <a:rPr lang="zh-TW" altLang="en-US" sz="1100" u="none" strike="noStrike">
                          <a:effectLst/>
                        </a:rPr>
                        <a:t>为变量</a:t>
                      </a:r>
                      <a:endParaRPr lang="zh-TW" alt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59963992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Items.Sort("[ReceivedTime]",True)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TW" altLang="en-US" sz="1100" u="none" strike="noStrike">
                          <a:effectLst/>
                        </a:rPr>
                        <a:t>按照收件顺序排序</a:t>
                      </a:r>
                      <a:r>
                        <a:rPr lang="en-US" sz="1100" u="none" strike="noStrike">
                          <a:effectLst/>
                        </a:rPr>
                        <a:t>Items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True:</a:t>
                      </a:r>
                      <a:r>
                        <a:rPr lang="zh-TW" altLang="en-US" sz="1100" u="none" strike="noStrike" dirty="0">
                          <a:effectLst/>
                        </a:rPr>
                        <a:t>降序</a:t>
                      </a:r>
                      <a:r>
                        <a:rPr lang="en-US" altLang="zh-TW" sz="1100" u="none" strike="noStrike" dirty="0">
                          <a:effectLst/>
                        </a:rPr>
                        <a:t>,</a:t>
                      </a:r>
                      <a:r>
                        <a:rPr lang="en-US" sz="1100" u="none" strike="noStrike" dirty="0">
                          <a:effectLst/>
                        </a:rPr>
                        <a:t>False:</a:t>
                      </a:r>
                      <a:r>
                        <a:rPr lang="zh-TW" altLang="en-US" sz="1100" u="none" strike="noStrike" dirty="0">
                          <a:effectLst/>
                        </a:rPr>
                        <a:t>升序</a:t>
                      </a:r>
                      <a:r>
                        <a:rPr lang="en-US" altLang="zh-TW" sz="1100" u="none" strike="noStrike" dirty="0">
                          <a:effectLst/>
                        </a:rPr>
                        <a:t>(</a:t>
                      </a:r>
                      <a:r>
                        <a:rPr lang="zh-TW" altLang="en-US" sz="1100" u="none" strike="noStrike" dirty="0">
                          <a:effectLst/>
                        </a:rPr>
                        <a:t>默认</a:t>
                      </a:r>
                      <a:r>
                        <a:rPr lang="en-US" sz="1100" u="none" strike="noStrike" dirty="0">
                          <a:effectLst/>
                        </a:rPr>
                        <a:t>False)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953721544"/>
                  </a:ext>
                </a:extLst>
              </a:tr>
            </a:tbl>
          </a:graphicData>
        </a:graphic>
      </p:graphicFrame>
      <p:pic>
        <p:nvPicPr>
          <p:cNvPr id="8" name="圖片 7"/>
          <p:cNvPicPr>
            <a:picLocks noChangeAspect="1" noChangeArrowheads="1"/>
            <a:extLst>
              <a:ext uri="{84589F7E-364E-4C9E-8A38-B11213B215E9}">
                <a14:cameraTool xmlns:a14="http://schemas.microsoft.com/office/drawing/2010/main" cellRange="$A$1:$C$14"/>
              </a:ext>
            </a:extLst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2041" y="1916735"/>
            <a:ext cx="8751601" cy="3411847"/>
          </a:xfrm>
          <a:prstGeom prst="rect">
            <a:avLst/>
          </a:prstGeom>
          <a:solidFill>
            <a:srgbClr xmlns:mc="http://schemas.openxmlformats.org/markup-compatibility/2006" xmlns:a14="http://schemas.microsoft.com/office/drawing/2010/main" val="FFFFFF" mc:Ignorable="a14" a14:legacySpreadsheetColorIndex="9"/>
          </a:solidFill>
          <a:ln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56227973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64982" y="134607"/>
            <a:ext cx="1833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Python</a:t>
            </a:r>
            <a:r>
              <a:rPr lang="zh-CN" altLang="en-US" dirty="0" smtClean="0">
                <a:solidFill>
                  <a:schemeClr val="bg1"/>
                </a:solidFill>
              </a:rPr>
              <a:t>教材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6947807" y="320272"/>
            <a:ext cx="2008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bg1"/>
                </a:solidFill>
              </a:rPr>
              <a:t>读取</a:t>
            </a:r>
            <a:r>
              <a:rPr lang="en-US" altLang="zh-CN" dirty="0" smtClean="0">
                <a:solidFill>
                  <a:schemeClr val="bg1"/>
                </a:solidFill>
              </a:rPr>
              <a:t>Outlook</a:t>
            </a:r>
            <a:r>
              <a:rPr lang="zh-CN" altLang="en-US" dirty="0" smtClean="0">
                <a:solidFill>
                  <a:schemeClr val="bg1"/>
                </a:solidFill>
              </a:rPr>
              <a:t>内容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696244" y="951533"/>
            <a:ext cx="788147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练</a:t>
            </a:r>
            <a:r>
              <a:rPr lang="zh-CN" altLang="en-US" dirty="0" smtClean="0"/>
              <a:t>习：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读取自己邮箱中第一封未读邮件的发件人，接收邮件的日期（格式</a:t>
            </a:r>
            <a:r>
              <a:rPr lang="en-US" altLang="zh-CN" dirty="0" smtClean="0"/>
              <a:t>XXXX</a:t>
            </a:r>
            <a:r>
              <a:rPr lang="zh-CN" altLang="en-US" dirty="0" smtClean="0"/>
              <a:t>年</a:t>
            </a:r>
            <a:r>
              <a:rPr lang="en-US" altLang="zh-CN" dirty="0" smtClean="0"/>
              <a:t>XX</a:t>
            </a:r>
            <a:r>
              <a:rPr lang="zh-CN" altLang="en-US" dirty="0" smtClean="0"/>
              <a:t>月</a:t>
            </a:r>
            <a:r>
              <a:rPr lang="en-US" altLang="zh-CN" dirty="0" smtClean="0"/>
              <a:t>XX</a:t>
            </a:r>
            <a:r>
              <a:rPr lang="zh-CN" altLang="en-US" dirty="0" smtClean="0"/>
              <a:t>日），主题，然后将读取状态变更为未读</a:t>
            </a:r>
            <a:endParaRPr lang="en-US" altLang="zh-CN" dirty="0" smtClean="0"/>
          </a:p>
          <a:p>
            <a:endParaRPr lang="en-US" altLang="zh-TW" dirty="0"/>
          </a:p>
          <a:p>
            <a:endParaRPr lang="zh-TW" altLang="en-US" dirty="0"/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038" y="3153453"/>
            <a:ext cx="6983975" cy="2121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60408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953039" y="2814955"/>
            <a:ext cx="5933661" cy="213904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7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# ## </a:t>
            </a:r>
            <a:r>
              <a:rPr kumimoji="0" lang="zh-CN" altLang="zh-CN" sz="7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邮件的回复</a:t>
            </a:r>
            <a:r>
              <a:rPr kumimoji="0" lang="zh-CN" altLang="zh-CN" sz="7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:</a:t>
            </a:r>
            <a:br>
              <a:rPr kumimoji="0" lang="zh-CN" altLang="zh-CN" sz="7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from 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win32com.client.gencache 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import 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EnsureDispatch 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as 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Dispatch</a:t>
            </a:r>
            <a:b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outlook=Dispatch(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"Outlook.Application"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</a:t>
            </a:r>
            <a:b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mapi=outlook.GetNamespace(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"MAPI"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</a:t>
            </a:r>
            <a:b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Accounts=mapi.Folders</a:t>
            </a:r>
            <a:b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for 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Account_Name 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in 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Accounts:</a:t>
            </a:r>
            <a:b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if 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Account_Name.Name==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"2022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年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:</a:t>
            </a:r>
            <a:b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Level_1_Names=Account_Name.Folders</a:t>
            </a:r>
            <a:b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for 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Level_1_Name 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in 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Level_1_Names:</a:t>
            </a:r>
            <a:b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    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if 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Level_1_Name.Name==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"Python-Outlook"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:</a:t>
            </a:r>
            <a:b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        Mail_1_Messages=Level_1_Name.Items</a:t>
            </a:r>
            <a:b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        Mail_1_Messages.Sort(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"[ReceivedTime]"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True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  </a:t>
            </a:r>
            <a:r>
              <a:rPr kumimoji="0" lang="zh-CN" altLang="zh-CN" sz="7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#</a:t>
            </a:r>
            <a:r>
              <a:rPr kumimoji="0" lang="zh-CN" altLang="zh-CN" sz="7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按收到时间排序</a:t>
            </a:r>
            <a:r>
              <a:rPr kumimoji="0" lang="zh-CN" altLang="zh-CN" sz="7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,True:</a:t>
            </a:r>
            <a:r>
              <a:rPr kumimoji="0" lang="zh-CN" altLang="zh-CN" sz="7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最近到最晚</a:t>
            </a:r>
            <a:br>
              <a:rPr kumimoji="0" lang="zh-CN" altLang="zh-CN" sz="7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kumimoji="0" lang="zh-CN" altLang="zh-CN" sz="7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                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for 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Mail_1_Message 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in 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Mail_1_Messages:</a:t>
            </a:r>
            <a:b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            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if 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Mail_1_Message.Subject==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"Python-Outlook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测试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2"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:</a:t>
            </a:r>
            <a:b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            </a:t>
            </a:r>
            <a:r>
              <a:rPr kumimoji="0" lang="zh-CN" altLang="zh-CN" sz="7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# if Mail_1_Message.Subject.find("Python-Outlook") !=-1:</a:t>
            </a:r>
            <a:br>
              <a:rPr kumimoji="0" lang="zh-CN" altLang="zh-CN" sz="7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7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                        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Mail=Mail_1_Message.Reply()   </a:t>
            </a:r>
            <a:r>
              <a:rPr kumimoji="0" lang="zh-CN" altLang="zh-CN" sz="7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#</a:t>
            </a:r>
            <a:r>
              <a:rPr kumimoji="0" lang="zh-CN" altLang="zh-CN" sz="7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全部回复</a:t>
            </a:r>
            <a:r>
              <a:rPr kumimoji="0" lang="zh-CN" altLang="zh-CN" sz="7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ReplyAll()</a:t>
            </a:r>
            <a:br>
              <a:rPr kumimoji="0" lang="zh-CN" altLang="zh-CN" sz="7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7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                        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Mail.HTMLBody=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"Hi "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+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  <a:ea typeface="JetBrains Mono"/>
              </a:rPr>
              <a:t>str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(Mail_1_Message.SenderName).split(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 "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1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)[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0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]+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"&lt;br&gt;&lt;br&gt;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邮件已收到。谢谢。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+Mail.HTMLBody</a:t>
            </a:r>
            <a:b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                Mail.Display()</a:t>
            </a:r>
            <a:b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                Mail.Send()</a:t>
            </a:r>
            <a:endParaRPr kumimoji="0" lang="zh-CN" altLang="zh-CN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文字方塊 1"/>
          <p:cNvSpPr txBox="1"/>
          <p:nvPr/>
        </p:nvSpPr>
        <p:spPr>
          <a:xfrm>
            <a:off x="64982" y="134607"/>
            <a:ext cx="1833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Python</a:t>
            </a:r>
            <a:r>
              <a:rPr lang="zh-CN" altLang="en-US" dirty="0" smtClean="0">
                <a:solidFill>
                  <a:schemeClr val="bg1"/>
                </a:solidFill>
              </a:rPr>
              <a:t>教材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6947807" y="320272"/>
            <a:ext cx="1156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回</a:t>
            </a:r>
            <a:r>
              <a:rPr lang="zh-CN" altLang="en-US" dirty="0" smtClean="0">
                <a:solidFill>
                  <a:schemeClr val="bg1"/>
                </a:solidFill>
              </a:rPr>
              <a:t>复邮件</a:t>
            </a:r>
            <a:endParaRPr lang="zh-TW" altLang="en-US" dirty="0">
              <a:solidFill>
                <a:schemeClr val="bg1"/>
              </a:solidFill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613" y="2349519"/>
            <a:ext cx="8524903" cy="3107064"/>
          </a:xfrm>
          <a:prstGeom prst="rect">
            <a:avLst/>
          </a:prstGeom>
        </p:spPr>
      </p:pic>
      <p:sp>
        <p:nvSpPr>
          <p:cNvPr id="6" name="文字方塊 5"/>
          <p:cNvSpPr txBox="1"/>
          <p:nvPr/>
        </p:nvSpPr>
        <p:spPr>
          <a:xfrm>
            <a:off x="2840674" y="1216106"/>
            <a:ext cx="39314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回复邮件：</a:t>
            </a:r>
            <a:r>
              <a:rPr lang="en-US" altLang="zh-CN" dirty="0" err="1" smtClean="0"/>
              <a:t>MailItem.Reply</a:t>
            </a:r>
            <a:r>
              <a:rPr lang="en-US" altLang="zh-CN" dirty="0" smtClean="0"/>
              <a:t>()</a:t>
            </a:r>
          </a:p>
          <a:p>
            <a:endParaRPr lang="en-US" altLang="zh-CN" dirty="0" smtClean="0"/>
          </a:p>
          <a:p>
            <a:r>
              <a:rPr lang="zh-CN" altLang="en-US" dirty="0"/>
              <a:t>全部回</a:t>
            </a:r>
            <a:r>
              <a:rPr lang="zh-CN" altLang="en-US" dirty="0" smtClean="0"/>
              <a:t>复：</a:t>
            </a:r>
            <a:r>
              <a:rPr lang="en-US" altLang="zh-CN" dirty="0" err="1" smtClean="0"/>
              <a:t>MailItem.ReplyAll</a:t>
            </a:r>
            <a:r>
              <a:rPr lang="en-US" altLang="zh-CN" dirty="0" smtClean="0"/>
              <a:t>()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7431771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813892" y="2791022"/>
            <a:ext cx="5277678" cy="20313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from 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win32com.client.gencache 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import 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EnsureDispatch 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as 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Dispatch</a:t>
            </a:r>
            <a:b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outlook=Dispatch(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"Outlook.Application"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</a:t>
            </a:r>
            <a:b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mapi=outlook.GetNamespace(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"MAPI"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</a:t>
            </a:r>
            <a:b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Accounts=mapi.Folders</a:t>
            </a:r>
            <a:b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for 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Account_Name 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in 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Accounts:</a:t>
            </a:r>
            <a:b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if 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Account_Name.Name==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"2022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年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:</a:t>
            </a:r>
            <a:b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Level_1_Names=Account_Name.Folders</a:t>
            </a:r>
            <a:b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for 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Level_1_Name 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in 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Level_1_Names:</a:t>
            </a:r>
            <a:b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    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if 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Level_1_Name.Name==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"Python-Outlook"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:</a:t>
            </a:r>
            <a:b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        Mail_1_Messages=Level_1_Name.Items</a:t>
            </a:r>
            <a:b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        Mail_1_Messages.Sort(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"[ReceivedTime]"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True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  </a:t>
            </a:r>
            <a:r>
              <a:rPr kumimoji="0" lang="zh-CN" altLang="zh-CN" sz="7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#</a:t>
            </a:r>
            <a:r>
              <a:rPr kumimoji="0" lang="zh-CN" altLang="zh-CN" sz="7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按收到时间排序</a:t>
            </a:r>
            <a:r>
              <a:rPr kumimoji="0" lang="zh-CN" altLang="zh-CN" sz="7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,True:</a:t>
            </a:r>
            <a:r>
              <a:rPr kumimoji="0" lang="zh-CN" altLang="zh-CN" sz="7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最近到最晚</a:t>
            </a:r>
            <a:br>
              <a:rPr kumimoji="0" lang="zh-CN" altLang="zh-CN" sz="7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kumimoji="0" lang="zh-CN" altLang="zh-CN" sz="7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                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for 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Mail_1_Message 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in 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Mail_1_Messages:</a:t>
            </a:r>
            <a:b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            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if 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Mail_1_Message.Subject==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"Python-Outlook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测试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2"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:</a:t>
            </a:r>
            <a:b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                Mail=Mail_1_Message.Forward()</a:t>
            </a:r>
            <a:b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                Mail.To=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"Wen-yan Sun(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孫文彥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_PSZ)"</a:t>
            </a:r>
            <a:b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                        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Mail.HTMLBody = 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"Hi Wen-yan" 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+ 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"&lt;br&gt;&lt;br&gt;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请注意这封邮件。谢谢。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 </a:t>
            </a: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+ Mail.HTMLBody</a:t>
            </a:r>
            <a:b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                Mail.Display()</a:t>
            </a:r>
            <a:b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7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                Mail.Send()</a:t>
            </a:r>
            <a:endParaRPr kumimoji="0" lang="zh-CN" altLang="zh-CN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文字方塊 1"/>
          <p:cNvSpPr txBox="1"/>
          <p:nvPr/>
        </p:nvSpPr>
        <p:spPr>
          <a:xfrm>
            <a:off x="64982" y="134607"/>
            <a:ext cx="1833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Python</a:t>
            </a:r>
            <a:r>
              <a:rPr lang="zh-CN" altLang="en-US" dirty="0" smtClean="0">
                <a:solidFill>
                  <a:schemeClr val="bg1"/>
                </a:solidFill>
              </a:rPr>
              <a:t>教材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6947807" y="320272"/>
            <a:ext cx="1156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转寄</a:t>
            </a:r>
            <a:r>
              <a:rPr lang="zh-CN" altLang="en-US" dirty="0" smtClean="0">
                <a:solidFill>
                  <a:schemeClr val="bg1"/>
                </a:solidFill>
              </a:rPr>
              <a:t>邮件</a:t>
            </a:r>
            <a:endParaRPr lang="zh-TW" altLang="en-US" dirty="0">
              <a:solidFill>
                <a:schemeClr val="bg1"/>
              </a:solidFill>
            </a:endParaRP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793" y="2099021"/>
            <a:ext cx="7862022" cy="3696071"/>
          </a:xfrm>
          <a:prstGeom prst="rect">
            <a:avLst/>
          </a:prstGeom>
        </p:spPr>
      </p:pic>
      <p:sp>
        <p:nvSpPr>
          <p:cNvPr id="8" name="文字方塊 7"/>
          <p:cNvSpPr txBox="1"/>
          <p:nvPr/>
        </p:nvSpPr>
        <p:spPr>
          <a:xfrm>
            <a:off x="2984565" y="1304297"/>
            <a:ext cx="2794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邮件的转寄：</a:t>
            </a:r>
            <a:r>
              <a:rPr lang="en-US" altLang="zh-CN" dirty="0" smtClean="0"/>
              <a:t>Forward</a:t>
            </a:r>
            <a:r>
              <a:rPr lang="zh-CN" altLang="en-US" dirty="0" smtClean="0"/>
              <a:t>（）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1704690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2047463" y="2786867"/>
            <a:ext cx="4745934" cy="181588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8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from </a:t>
            </a:r>
            <a:r>
              <a:rPr kumimoji="0" lang="zh-CN" altLang="zh-CN" sz="8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win32com.client.gencache </a:t>
            </a:r>
            <a:r>
              <a:rPr kumimoji="0" lang="zh-CN" altLang="zh-CN" sz="8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import </a:t>
            </a:r>
            <a:r>
              <a:rPr kumimoji="0" lang="zh-CN" altLang="zh-CN" sz="8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EnsureDispatch </a:t>
            </a:r>
            <a:r>
              <a:rPr kumimoji="0" lang="zh-CN" altLang="zh-CN" sz="8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as </a:t>
            </a:r>
            <a:r>
              <a:rPr kumimoji="0" lang="zh-CN" altLang="zh-CN" sz="8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Dispatch</a:t>
            </a:r>
            <a:br>
              <a:rPr kumimoji="0" lang="zh-CN" altLang="zh-CN" sz="8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8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outlook=Dispatch(</a:t>
            </a:r>
            <a:r>
              <a:rPr kumimoji="0" lang="zh-CN" altLang="zh-CN" sz="800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"Outlook.Application"</a:t>
            </a:r>
            <a:r>
              <a:rPr kumimoji="0" lang="zh-CN" altLang="zh-CN" sz="8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</a:t>
            </a:r>
            <a:br>
              <a:rPr kumimoji="0" lang="zh-CN" altLang="zh-CN" sz="8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8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mapi=outlook.GetNamespace(</a:t>
            </a:r>
            <a:r>
              <a:rPr kumimoji="0" lang="zh-CN" altLang="zh-CN" sz="800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"MAPI"</a:t>
            </a:r>
            <a:r>
              <a:rPr kumimoji="0" lang="zh-CN" altLang="zh-CN" sz="8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</a:t>
            </a:r>
            <a:br>
              <a:rPr kumimoji="0" lang="zh-CN" altLang="zh-CN" sz="8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8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Accounts=mapi.Folders</a:t>
            </a:r>
            <a:br>
              <a:rPr kumimoji="0" lang="zh-CN" altLang="zh-CN" sz="8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8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for </a:t>
            </a:r>
            <a:r>
              <a:rPr kumimoji="0" lang="zh-CN" altLang="zh-CN" sz="8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Account_Name </a:t>
            </a:r>
            <a:r>
              <a:rPr kumimoji="0" lang="zh-CN" altLang="zh-CN" sz="8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in </a:t>
            </a:r>
            <a:r>
              <a:rPr kumimoji="0" lang="zh-CN" altLang="zh-CN" sz="8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Accounts:</a:t>
            </a:r>
            <a:br>
              <a:rPr kumimoji="0" lang="zh-CN" altLang="zh-CN" sz="8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8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8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if </a:t>
            </a:r>
            <a:r>
              <a:rPr kumimoji="0" lang="zh-CN" altLang="zh-CN" sz="8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Account_Name.Name==</a:t>
            </a:r>
            <a:r>
              <a:rPr kumimoji="0" lang="zh-CN" altLang="zh-CN" sz="800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"2022</a:t>
            </a:r>
            <a:r>
              <a:rPr kumimoji="0" lang="zh-CN" altLang="zh-CN" sz="800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年</a:t>
            </a:r>
            <a:r>
              <a:rPr kumimoji="0" lang="zh-CN" altLang="zh-CN" sz="800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</a:t>
            </a:r>
            <a:r>
              <a:rPr kumimoji="0" lang="zh-CN" altLang="zh-CN" sz="8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:</a:t>
            </a:r>
            <a:br>
              <a:rPr kumimoji="0" lang="zh-CN" altLang="zh-CN" sz="8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8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Level_1_Names=Account_Name.Folders</a:t>
            </a:r>
            <a:br>
              <a:rPr kumimoji="0" lang="zh-CN" altLang="zh-CN" sz="8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8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zh-CN" altLang="zh-CN" sz="8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for </a:t>
            </a:r>
            <a:r>
              <a:rPr kumimoji="0" lang="zh-CN" altLang="zh-CN" sz="8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Level_1_Name </a:t>
            </a:r>
            <a:r>
              <a:rPr kumimoji="0" lang="zh-CN" altLang="zh-CN" sz="8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in </a:t>
            </a:r>
            <a:r>
              <a:rPr kumimoji="0" lang="zh-CN" altLang="zh-CN" sz="8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Level_1_Names:</a:t>
            </a:r>
            <a:br>
              <a:rPr kumimoji="0" lang="zh-CN" altLang="zh-CN" sz="8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8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    </a:t>
            </a:r>
            <a:r>
              <a:rPr kumimoji="0" lang="zh-CN" altLang="zh-CN" sz="8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if </a:t>
            </a:r>
            <a:r>
              <a:rPr kumimoji="0" lang="zh-CN" altLang="zh-CN" sz="8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Level_1_Name.Name==</a:t>
            </a:r>
            <a:r>
              <a:rPr kumimoji="0" lang="zh-CN" altLang="zh-CN" sz="800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"Python-Outlook"</a:t>
            </a:r>
            <a:r>
              <a:rPr kumimoji="0" lang="zh-CN" altLang="zh-CN" sz="8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:</a:t>
            </a:r>
            <a:br>
              <a:rPr kumimoji="0" lang="zh-CN" altLang="zh-CN" sz="8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8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        Mail_1_Messages=Level_1_Name.Items</a:t>
            </a:r>
            <a:br>
              <a:rPr kumimoji="0" lang="zh-CN" altLang="zh-CN" sz="8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8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        Mail_1_Messages.Sort(</a:t>
            </a:r>
            <a:r>
              <a:rPr kumimoji="0" lang="zh-CN" altLang="zh-CN" sz="800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"[ReceivedTime]"</a:t>
            </a:r>
            <a:r>
              <a:rPr kumimoji="0" lang="zh-CN" altLang="zh-CN" sz="8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zh-CN" altLang="zh-CN" sz="8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True</a:t>
            </a:r>
            <a:r>
              <a:rPr kumimoji="0" lang="zh-CN" altLang="zh-CN" sz="8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  </a:t>
            </a:r>
            <a:r>
              <a:rPr kumimoji="0" lang="zh-CN" altLang="zh-CN" sz="8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#</a:t>
            </a:r>
            <a:r>
              <a:rPr kumimoji="0" lang="zh-CN" altLang="zh-CN" sz="8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按收到时间排序</a:t>
            </a:r>
            <a:r>
              <a:rPr kumimoji="0" lang="zh-CN" altLang="zh-CN" sz="8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,True:</a:t>
            </a:r>
            <a:r>
              <a:rPr kumimoji="0" lang="zh-CN" altLang="zh-CN" sz="8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最近到最晚</a:t>
            </a:r>
            <a:br>
              <a:rPr kumimoji="0" lang="zh-CN" altLang="zh-CN" sz="8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kumimoji="0" lang="zh-CN" altLang="zh-CN" sz="8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                </a:t>
            </a:r>
            <a:r>
              <a:rPr kumimoji="0" lang="zh-CN" altLang="zh-CN" sz="8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for </a:t>
            </a:r>
            <a:r>
              <a:rPr kumimoji="0" lang="zh-CN" altLang="zh-CN" sz="8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Mail_1_Message </a:t>
            </a:r>
            <a:r>
              <a:rPr kumimoji="0" lang="zh-CN" altLang="zh-CN" sz="8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in </a:t>
            </a:r>
            <a:r>
              <a:rPr kumimoji="0" lang="zh-CN" altLang="zh-CN" sz="8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Mail_1_Messages:</a:t>
            </a:r>
            <a:br>
              <a:rPr kumimoji="0" lang="zh-CN" altLang="zh-CN" sz="8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8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            </a:t>
            </a:r>
            <a:r>
              <a:rPr kumimoji="0" lang="zh-CN" altLang="zh-CN" sz="8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if </a:t>
            </a:r>
            <a:r>
              <a:rPr kumimoji="0" lang="zh-CN" altLang="zh-CN" sz="8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Mail_1_Message.Subject==</a:t>
            </a:r>
            <a:r>
              <a:rPr kumimoji="0" lang="zh-CN" altLang="zh-CN" sz="800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"Python-Outlook</a:t>
            </a:r>
            <a:r>
              <a:rPr kumimoji="0" lang="zh-CN" altLang="zh-CN" sz="800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测试</a:t>
            </a:r>
            <a:r>
              <a:rPr kumimoji="0" lang="zh-CN" altLang="zh-CN" sz="800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4"</a:t>
            </a:r>
            <a:r>
              <a:rPr kumimoji="0" lang="zh-CN" altLang="zh-CN" sz="8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:</a:t>
            </a:r>
            <a:br>
              <a:rPr kumimoji="0" lang="zh-CN" altLang="zh-CN" sz="8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8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                Mail_1_Message.Move(Accounts.Item(</a:t>
            </a:r>
            <a:r>
              <a:rPr kumimoji="0" lang="zh-CN" altLang="zh-CN" sz="800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"2022</a:t>
            </a:r>
            <a:r>
              <a:rPr kumimoji="0" lang="zh-CN" altLang="zh-CN" sz="800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年</a:t>
            </a:r>
            <a:r>
              <a:rPr kumimoji="0" lang="zh-CN" altLang="zh-CN" sz="800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</a:t>
            </a:r>
            <a:r>
              <a:rPr kumimoji="0" lang="zh-CN" altLang="zh-CN" sz="8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).Folders.Item(</a:t>
            </a:r>
            <a:r>
              <a:rPr kumimoji="0" lang="zh-CN" altLang="zh-CN" sz="800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"Python-Outlook2"</a:t>
            </a:r>
            <a:r>
              <a:rPr kumimoji="0" lang="zh-CN" altLang="zh-CN" sz="8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))</a:t>
            </a:r>
            <a:endParaRPr kumimoji="0" lang="zh-CN" altLang="zh-CN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文字方塊 1"/>
          <p:cNvSpPr txBox="1"/>
          <p:nvPr/>
        </p:nvSpPr>
        <p:spPr>
          <a:xfrm>
            <a:off x="64982" y="134607"/>
            <a:ext cx="1833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Python</a:t>
            </a:r>
            <a:r>
              <a:rPr lang="zh-CN" altLang="en-US" dirty="0" smtClean="0">
                <a:solidFill>
                  <a:schemeClr val="bg1"/>
                </a:solidFill>
              </a:rPr>
              <a:t>教材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6947807" y="320272"/>
            <a:ext cx="1156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转移</a:t>
            </a:r>
            <a:r>
              <a:rPr lang="zh-CN" altLang="en-US" dirty="0" smtClean="0">
                <a:solidFill>
                  <a:schemeClr val="bg1"/>
                </a:solidFill>
              </a:rPr>
              <a:t>邮件</a:t>
            </a:r>
            <a:endParaRPr lang="zh-TW" altLang="en-US" dirty="0">
              <a:solidFill>
                <a:schemeClr val="bg1"/>
              </a:solidFill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32" y="2079117"/>
            <a:ext cx="8296275" cy="3100936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2956715" y="1281089"/>
            <a:ext cx="37875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邮件的转移：</a:t>
            </a:r>
            <a:r>
              <a:rPr lang="en-US" altLang="zh-CN" dirty="0" smtClean="0"/>
              <a:t>Move</a:t>
            </a:r>
            <a:r>
              <a:rPr lang="zh-CN" altLang="en-US" dirty="0" smtClean="0"/>
              <a:t>（）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3607238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669774" y="2725950"/>
            <a:ext cx="6082748" cy="2554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from </a:t>
            </a:r>
            <a:r>
              <a:rPr kumimoji="0" lang="zh-CN" altLang="zh-CN" sz="1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win32com.client.gencache </a:t>
            </a:r>
            <a:r>
              <a:rPr kumimoji="0" lang="zh-CN" altLang="zh-CN" sz="10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import </a:t>
            </a:r>
            <a:r>
              <a:rPr kumimoji="0" lang="zh-CN" altLang="zh-CN" sz="1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EnsureDispatch </a:t>
            </a:r>
            <a:r>
              <a:rPr kumimoji="0" lang="zh-CN" altLang="zh-CN" sz="10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as </a:t>
            </a:r>
            <a:r>
              <a:rPr kumimoji="0" lang="zh-CN" altLang="zh-CN" sz="1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Dispatch</a:t>
            </a:r>
            <a:br>
              <a:rPr kumimoji="0" lang="zh-CN" altLang="zh-CN" sz="1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outlook=Dispatch(</a:t>
            </a:r>
            <a:r>
              <a:rPr kumimoji="0" lang="zh-CN" altLang="zh-CN" sz="1000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"Outlook.Application"</a:t>
            </a:r>
            <a:r>
              <a:rPr kumimoji="0" lang="zh-CN" altLang="zh-CN" sz="1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</a:t>
            </a:r>
            <a:br>
              <a:rPr kumimoji="0" lang="zh-CN" altLang="zh-CN" sz="1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mapi=outlook.GetNamespace(</a:t>
            </a:r>
            <a:r>
              <a:rPr kumimoji="0" lang="zh-CN" altLang="zh-CN" sz="1000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"MAPI"</a:t>
            </a:r>
            <a:r>
              <a:rPr kumimoji="0" lang="zh-CN" altLang="zh-CN" sz="1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</a:t>
            </a:r>
            <a:br>
              <a:rPr kumimoji="0" lang="zh-CN" altLang="zh-CN" sz="1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Accounts=mapi.Folders</a:t>
            </a:r>
            <a:br>
              <a:rPr kumimoji="0" lang="zh-CN" altLang="zh-CN" sz="1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path=</a:t>
            </a:r>
            <a:r>
              <a:rPr kumimoji="0" lang="zh-CN" altLang="zh-CN" sz="1000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'C:</a:t>
            </a:r>
            <a:r>
              <a:rPr kumimoji="0" lang="zh-CN" altLang="zh-CN" sz="1000" b="0" i="0" u="none" strike="noStrike" cap="none" normalizeH="0" baseline="0" dirty="0" smtClean="0">
                <a:ln>
                  <a:noFill/>
                </a:ln>
                <a:solidFill>
                  <a:srgbClr val="0037A6"/>
                </a:solidFill>
                <a:effectLst/>
                <a:latin typeface="Arial Unicode MS"/>
                <a:ea typeface="JetBrains Mono"/>
              </a:rPr>
              <a:t>\\</a:t>
            </a:r>
            <a:r>
              <a:rPr kumimoji="0" lang="zh-CN" altLang="zh-CN" sz="1000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Users</a:t>
            </a:r>
            <a:r>
              <a:rPr kumimoji="0" lang="zh-CN" altLang="zh-CN" sz="1000" b="0" i="0" u="none" strike="noStrike" cap="none" normalizeH="0" baseline="0" dirty="0" smtClean="0">
                <a:ln>
                  <a:noFill/>
                </a:ln>
                <a:solidFill>
                  <a:srgbClr val="0037A6"/>
                </a:solidFill>
                <a:effectLst/>
                <a:latin typeface="Arial Unicode MS"/>
                <a:ea typeface="JetBrains Mono"/>
              </a:rPr>
              <a:t>\\</a:t>
            </a:r>
            <a:r>
              <a:rPr kumimoji="0" lang="zh-CN" altLang="zh-CN" sz="1000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wen-yan_sun.PSZ</a:t>
            </a:r>
            <a:r>
              <a:rPr kumimoji="0" lang="zh-CN" altLang="zh-CN" sz="1000" b="0" i="0" u="none" strike="noStrike" cap="none" normalizeH="0" baseline="0" dirty="0" smtClean="0">
                <a:ln>
                  <a:noFill/>
                </a:ln>
                <a:solidFill>
                  <a:srgbClr val="0037A6"/>
                </a:solidFill>
                <a:effectLst/>
                <a:latin typeface="Arial Unicode MS"/>
                <a:ea typeface="JetBrains Mono"/>
              </a:rPr>
              <a:t>\\</a:t>
            </a:r>
            <a:r>
              <a:rPr kumimoji="0" lang="zh-CN" altLang="zh-CN" sz="1000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Desktop</a:t>
            </a:r>
            <a:r>
              <a:rPr kumimoji="0" lang="zh-CN" altLang="zh-CN" sz="1000" b="0" i="0" u="none" strike="noStrike" cap="none" normalizeH="0" baseline="0" dirty="0" smtClean="0">
                <a:ln>
                  <a:noFill/>
                </a:ln>
                <a:solidFill>
                  <a:srgbClr val="0037A6"/>
                </a:solidFill>
                <a:effectLst/>
                <a:latin typeface="Arial Unicode MS"/>
                <a:ea typeface="JetBrains Mono"/>
              </a:rPr>
              <a:t>\\</a:t>
            </a:r>
            <a:r>
              <a:rPr kumimoji="0" lang="zh-CN" altLang="zh-CN" sz="1000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'</a:t>
            </a:r>
            <a:br>
              <a:rPr kumimoji="0" lang="zh-CN" altLang="zh-CN" sz="1000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0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for </a:t>
            </a:r>
            <a:r>
              <a:rPr kumimoji="0" lang="zh-CN" altLang="zh-CN" sz="1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Account_Name </a:t>
            </a:r>
            <a:r>
              <a:rPr kumimoji="0" lang="zh-CN" altLang="zh-CN" sz="10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in </a:t>
            </a:r>
            <a:r>
              <a:rPr kumimoji="0" lang="zh-CN" altLang="zh-CN" sz="1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Accounts:</a:t>
            </a:r>
            <a:br>
              <a:rPr kumimoji="0" lang="zh-CN" altLang="zh-CN" sz="1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10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if </a:t>
            </a:r>
            <a:r>
              <a:rPr kumimoji="0" lang="zh-CN" altLang="zh-CN" sz="1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Account_Name.Name==</a:t>
            </a:r>
            <a:r>
              <a:rPr kumimoji="0" lang="zh-CN" altLang="zh-CN" sz="1000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"2022</a:t>
            </a:r>
            <a:r>
              <a:rPr kumimoji="0" lang="zh-CN" altLang="zh-CN" sz="1000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年</a:t>
            </a:r>
            <a:r>
              <a:rPr kumimoji="0" lang="zh-CN" altLang="zh-CN" sz="1000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</a:t>
            </a:r>
            <a:r>
              <a:rPr kumimoji="0" lang="zh-CN" altLang="zh-CN" sz="1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:</a:t>
            </a:r>
            <a:br>
              <a:rPr kumimoji="0" lang="zh-CN" altLang="zh-CN" sz="1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Level_1_Names=Account_Name.Folders</a:t>
            </a:r>
            <a:br>
              <a:rPr kumimoji="0" lang="zh-CN" altLang="zh-CN" sz="1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zh-CN" altLang="zh-CN" sz="10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for </a:t>
            </a:r>
            <a:r>
              <a:rPr kumimoji="0" lang="zh-CN" altLang="zh-CN" sz="1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Level_1_Name </a:t>
            </a:r>
            <a:r>
              <a:rPr kumimoji="0" lang="zh-CN" altLang="zh-CN" sz="10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in </a:t>
            </a:r>
            <a:r>
              <a:rPr kumimoji="0" lang="zh-CN" altLang="zh-CN" sz="1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Level_1_Names:</a:t>
            </a:r>
            <a:br>
              <a:rPr kumimoji="0" lang="zh-CN" altLang="zh-CN" sz="1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    </a:t>
            </a:r>
            <a:r>
              <a:rPr kumimoji="0" lang="zh-CN" altLang="zh-CN" sz="10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if </a:t>
            </a:r>
            <a:r>
              <a:rPr kumimoji="0" lang="zh-CN" altLang="zh-CN" sz="1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Level_1_Name.Name==</a:t>
            </a:r>
            <a:r>
              <a:rPr kumimoji="0" lang="zh-CN" altLang="zh-CN" sz="1000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"Python-Outlook"</a:t>
            </a:r>
            <a:r>
              <a:rPr kumimoji="0" lang="zh-CN" altLang="zh-CN" sz="1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:</a:t>
            </a:r>
            <a:br>
              <a:rPr kumimoji="0" lang="zh-CN" altLang="zh-CN" sz="1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        Mail_1_Messages=Level_1_Name.Items</a:t>
            </a:r>
            <a:br>
              <a:rPr kumimoji="0" lang="zh-CN" altLang="zh-CN" sz="1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        Mail_1_Messages.Sort(</a:t>
            </a:r>
            <a:r>
              <a:rPr kumimoji="0" lang="zh-CN" altLang="zh-CN" sz="1000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"[ReceivedTime]"</a:t>
            </a:r>
            <a:r>
              <a:rPr kumimoji="0" lang="zh-CN" altLang="zh-CN" sz="1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zh-CN" altLang="zh-CN" sz="10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True</a:t>
            </a:r>
            <a:r>
              <a:rPr kumimoji="0" lang="zh-CN" altLang="zh-CN" sz="1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  </a:t>
            </a:r>
            <a:r>
              <a:rPr kumimoji="0" lang="zh-CN" altLang="zh-CN" sz="10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#</a:t>
            </a:r>
            <a:r>
              <a:rPr kumimoji="0" lang="zh-CN" altLang="zh-CN" sz="10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按收到时间排序</a:t>
            </a:r>
            <a:r>
              <a:rPr kumimoji="0" lang="zh-CN" altLang="zh-CN" sz="10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,True:</a:t>
            </a:r>
            <a:r>
              <a:rPr kumimoji="0" lang="zh-CN" altLang="zh-CN" sz="10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最近到最晚</a:t>
            </a:r>
            <a:br>
              <a:rPr kumimoji="0" lang="zh-CN" altLang="zh-CN" sz="10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kumimoji="0" lang="zh-CN" altLang="zh-CN" sz="10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                </a:t>
            </a:r>
            <a:r>
              <a:rPr kumimoji="0" lang="zh-CN" altLang="zh-CN" sz="10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for </a:t>
            </a:r>
            <a:r>
              <a:rPr kumimoji="0" lang="zh-CN" altLang="zh-CN" sz="1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Mail_1_Message </a:t>
            </a:r>
            <a:r>
              <a:rPr kumimoji="0" lang="zh-CN" altLang="zh-CN" sz="10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in </a:t>
            </a:r>
            <a:r>
              <a:rPr kumimoji="0" lang="zh-CN" altLang="zh-CN" sz="1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Mail_1_Messages:</a:t>
            </a:r>
            <a:br>
              <a:rPr kumimoji="0" lang="zh-CN" altLang="zh-CN" sz="1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            </a:t>
            </a:r>
            <a:r>
              <a:rPr kumimoji="0" lang="zh-CN" altLang="zh-CN" sz="10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if </a:t>
            </a:r>
            <a:r>
              <a:rPr kumimoji="0" lang="zh-CN" altLang="zh-CN" sz="1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Mail_1_Message.Subject==</a:t>
            </a:r>
            <a:r>
              <a:rPr kumimoji="0" lang="zh-CN" altLang="zh-CN" sz="1000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"Python-Outlook</a:t>
            </a:r>
            <a:r>
              <a:rPr kumimoji="0" lang="zh-CN" altLang="zh-CN" sz="1000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测试</a:t>
            </a:r>
            <a:r>
              <a:rPr kumimoji="0" lang="zh-CN" altLang="zh-CN" sz="1000" b="0" i="0" u="none" strike="noStrike" cap="none" normalizeH="0" baseline="0" dirty="0" smtClean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2"</a:t>
            </a:r>
            <a:r>
              <a:rPr kumimoji="0" lang="zh-CN" altLang="zh-CN" sz="1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:  </a:t>
            </a:r>
            <a:r>
              <a:rPr kumimoji="0" lang="zh-CN" altLang="zh-CN" sz="10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#</a:t>
            </a:r>
            <a:r>
              <a:rPr kumimoji="0" lang="zh-CN" altLang="zh-CN" sz="10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邮件主旨为</a:t>
            </a:r>
            <a:r>
              <a:rPr kumimoji="0" lang="zh-CN" altLang="zh-CN" sz="10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Python-Outlook</a:t>
            </a:r>
            <a:r>
              <a:rPr kumimoji="0" lang="zh-CN" altLang="zh-CN" sz="10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测试</a:t>
            </a:r>
            <a:r>
              <a:rPr kumimoji="0" lang="zh-CN" altLang="zh-CN" sz="10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2</a:t>
            </a:r>
            <a:br>
              <a:rPr kumimoji="0" lang="zh-CN" altLang="zh-CN" sz="10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0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                        </a:t>
            </a:r>
            <a:r>
              <a:rPr kumimoji="0" lang="zh-CN" altLang="zh-CN" sz="10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for </a:t>
            </a:r>
            <a:r>
              <a:rPr kumimoji="0" lang="zh-CN" altLang="zh-CN" sz="1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attachment </a:t>
            </a:r>
            <a:r>
              <a:rPr kumimoji="0" lang="zh-CN" altLang="zh-CN" sz="10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in </a:t>
            </a:r>
            <a:r>
              <a:rPr kumimoji="0" lang="zh-CN" altLang="zh-CN" sz="1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Mail_1_Message.Attachments:</a:t>
            </a:r>
            <a:br>
              <a:rPr kumimoji="0" lang="zh-CN" altLang="zh-CN" sz="1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10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                    attachment.SaveAsFile(path+attachment.FileName) </a:t>
            </a:r>
            <a:endParaRPr kumimoji="0" lang="zh-CN" altLang="zh-CN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文字方塊 1"/>
          <p:cNvSpPr txBox="1"/>
          <p:nvPr/>
        </p:nvSpPr>
        <p:spPr>
          <a:xfrm>
            <a:off x="64982" y="134607"/>
            <a:ext cx="1833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Python</a:t>
            </a:r>
            <a:r>
              <a:rPr lang="zh-CN" altLang="en-US" dirty="0" smtClean="0">
                <a:solidFill>
                  <a:schemeClr val="bg1"/>
                </a:solidFill>
              </a:rPr>
              <a:t>教材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6947807" y="320272"/>
            <a:ext cx="1156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下</a:t>
            </a:r>
            <a:r>
              <a:rPr lang="zh-CN" altLang="en-US" dirty="0" smtClean="0">
                <a:solidFill>
                  <a:schemeClr val="bg1"/>
                </a:solidFill>
              </a:rPr>
              <a:t>载附件</a:t>
            </a:r>
            <a:endParaRPr lang="zh-TW" altLang="en-US" dirty="0">
              <a:solidFill>
                <a:schemeClr val="bg1"/>
              </a:solidFill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962" y="2049313"/>
            <a:ext cx="8415973" cy="3907821"/>
          </a:xfrm>
          <a:prstGeom prst="rect">
            <a:avLst/>
          </a:prstGeom>
        </p:spPr>
      </p:pic>
      <p:sp>
        <p:nvSpPr>
          <p:cNvPr id="7" name="文字方塊 6"/>
          <p:cNvSpPr txBox="1"/>
          <p:nvPr/>
        </p:nvSpPr>
        <p:spPr>
          <a:xfrm>
            <a:off x="3105246" y="1184792"/>
            <a:ext cx="26318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下</a:t>
            </a:r>
            <a:r>
              <a:rPr lang="zh-CN" altLang="en-US" dirty="0" smtClean="0"/>
              <a:t>载附件：</a:t>
            </a:r>
            <a:r>
              <a:rPr lang="en-US" altLang="zh-CN" dirty="0" err="1" smtClean="0"/>
              <a:t>SaveAsFile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0003874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736089" y="2799300"/>
            <a:ext cx="5902133" cy="246221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100" dirty="0">
                <a:latin typeface="Arial" panose="020B0604020202020204" pitchFamily="34" charset="0"/>
              </a:rPr>
              <a:t>from win32com.client.gencache import </a:t>
            </a:r>
            <a:r>
              <a:rPr lang="en-US" altLang="zh-CN" sz="1100" dirty="0" err="1">
                <a:latin typeface="Arial" panose="020B0604020202020204" pitchFamily="34" charset="0"/>
              </a:rPr>
              <a:t>EnsureDispatch</a:t>
            </a:r>
            <a:r>
              <a:rPr lang="en-US" altLang="zh-CN" sz="1100" dirty="0">
                <a:latin typeface="Arial" panose="020B0604020202020204" pitchFamily="34" charset="0"/>
              </a:rPr>
              <a:t> as Dispatch</a:t>
            </a:r>
            <a:br>
              <a:rPr lang="en-US" altLang="zh-CN" sz="1100" dirty="0">
                <a:latin typeface="Arial" panose="020B0604020202020204" pitchFamily="34" charset="0"/>
              </a:rPr>
            </a:br>
            <a:r>
              <a:rPr lang="en-US" altLang="zh-CN" sz="1100" dirty="0">
                <a:latin typeface="Arial" panose="020B0604020202020204" pitchFamily="34" charset="0"/>
              </a:rPr>
              <a:t>outlook=Dispatch(“</a:t>
            </a:r>
            <a:r>
              <a:rPr lang="en-US" altLang="zh-CN" sz="1100" dirty="0" err="1">
                <a:latin typeface="Arial" panose="020B0604020202020204" pitchFamily="34" charset="0"/>
              </a:rPr>
              <a:t>Outlook.Application</a:t>
            </a:r>
            <a:r>
              <a:rPr lang="en-US" altLang="zh-CN" sz="1100" dirty="0">
                <a:latin typeface="Arial" panose="020B0604020202020204" pitchFamily="34" charset="0"/>
              </a:rPr>
              <a:t>”)</a:t>
            </a:r>
            <a:br>
              <a:rPr lang="en-US" altLang="zh-CN" sz="1100" dirty="0">
                <a:latin typeface="Arial" panose="020B0604020202020204" pitchFamily="34" charset="0"/>
              </a:rPr>
            </a:br>
            <a:r>
              <a:rPr lang="en-US" altLang="zh-CN" sz="1100" dirty="0">
                <a:latin typeface="Arial" panose="020B0604020202020204" pitchFamily="34" charset="0"/>
              </a:rPr>
              <a:t>Mail=</a:t>
            </a:r>
            <a:r>
              <a:rPr lang="en-US" altLang="zh-CN" sz="1100" dirty="0" err="1">
                <a:latin typeface="Arial" panose="020B0604020202020204" pitchFamily="34" charset="0"/>
              </a:rPr>
              <a:t>outlook.CreateItem</a:t>
            </a:r>
            <a:r>
              <a:rPr lang="en-US" altLang="zh-CN" sz="1100" dirty="0">
                <a:latin typeface="Arial" panose="020B0604020202020204" pitchFamily="34" charset="0"/>
              </a:rPr>
              <a:t>(0)</a:t>
            </a:r>
            <a:br>
              <a:rPr lang="en-US" altLang="zh-CN" sz="1100" dirty="0">
                <a:latin typeface="Arial" panose="020B0604020202020204" pitchFamily="34" charset="0"/>
              </a:rPr>
            </a:br>
            <a:r>
              <a:rPr lang="en-US" altLang="zh-CN" sz="1100" dirty="0" err="1">
                <a:latin typeface="Arial" panose="020B0604020202020204" pitchFamily="34" charset="0"/>
              </a:rPr>
              <a:t>Mail.To</a:t>
            </a:r>
            <a:r>
              <a:rPr lang="en-US" altLang="zh-CN" sz="1100" dirty="0">
                <a:latin typeface="Arial" panose="020B0604020202020204" pitchFamily="34" charset="0"/>
              </a:rPr>
              <a:t>=‘wen-yan_sun@pegatroncorp.com’</a:t>
            </a:r>
            <a:br>
              <a:rPr lang="en-US" altLang="zh-CN" sz="1100" dirty="0">
                <a:latin typeface="Arial" panose="020B0604020202020204" pitchFamily="34" charset="0"/>
              </a:rPr>
            </a:br>
            <a:r>
              <a:rPr lang="en-US" altLang="zh-CN" sz="1100" dirty="0">
                <a:latin typeface="Arial" panose="020B0604020202020204" pitchFamily="34" charset="0"/>
              </a:rPr>
              <a:t>Mail.CC=‘wen-yan_sun@pegatroncorp.com’</a:t>
            </a:r>
            <a:br>
              <a:rPr lang="en-US" altLang="zh-CN" sz="1100" dirty="0">
                <a:latin typeface="Arial" panose="020B0604020202020204" pitchFamily="34" charset="0"/>
              </a:rPr>
            </a:br>
            <a:r>
              <a:rPr lang="en-US" altLang="zh-CN" sz="1100" dirty="0" err="1">
                <a:latin typeface="Arial" panose="020B0604020202020204" pitchFamily="34" charset="0"/>
              </a:rPr>
              <a:t>Mail.Subject</a:t>
            </a:r>
            <a:r>
              <a:rPr lang="en-US" altLang="zh-CN" sz="1100" dirty="0">
                <a:latin typeface="Arial" panose="020B0604020202020204" pitchFamily="34" charset="0"/>
              </a:rPr>
              <a:t>=‘</a:t>
            </a:r>
            <a:r>
              <a:rPr lang="zh-CN" altLang="en-US" sz="1100" dirty="0">
                <a:latin typeface="Arial" panose="020B0604020202020204" pitchFamily="34" charset="0"/>
              </a:rPr>
              <a:t>庫存’</a:t>
            </a:r>
            <a:br>
              <a:rPr lang="zh-CN" altLang="en-US" sz="1100" dirty="0">
                <a:latin typeface="Arial" panose="020B0604020202020204" pitchFamily="34" charset="0"/>
              </a:rPr>
            </a:br>
            <a:r>
              <a:rPr lang="en-US" altLang="zh-CN" sz="1100" dirty="0" err="1">
                <a:latin typeface="Arial" panose="020B0604020202020204" pitchFamily="34" charset="0"/>
              </a:rPr>
              <a:t>Mail.Attachments.Add</a:t>
            </a:r>
            <a:r>
              <a:rPr lang="en-US" altLang="zh-CN" sz="1100" dirty="0">
                <a:latin typeface="Arial" panose="020B0604020202020204" pitchFamily="34" charset="0"/>
              </a:rPr>
              <a:t>(‘D:\\</a:t>
            </a:r>
            <a:r>
              <a:rPr lang="en-US" altLang="zh-CN" sz="1100" dirty="0" err="1">
                <a:latin typeface="Arial" panose="020B0604020202020204" pitchFamily="34" charset="0"/>
              </a:rPr>
              <a:t>steef</a:t>
            </a:r>
            <a:r>
              <a:rPr lang="en-US" altLang="zh-CN" sz="1100" dirty="0">
                <a:latin typeface="Arial" panose="020B0604020202020204" pitchFamily="34" charset="0"/>
              </a:rPr>
              <a:t>\\steef123456.XLS')</a:t>
            </a:r>
            <a:br>
              <a:rPr lang="en-US" altLang="zh-CN" sz="1100" dirty="0">
                <a:latin typeface="Arial" panose="020B0604020202020204" pitchFamily="34" charset="0"/>
              </a:rPr>
            </a:br>
            <a:r>
              <a:rPr lang="en-US" altLang="zh-CN" sz="1100" dirty="0" err="1">
                <a:latin typeface="Arial" panose="020B0604020202020204" pitchFamily="34" charset="0"/>
              </a:rPr>
              <a:t>Mail.Attachments.Add</a:t>
            </a:r>
            <a:r>
              <a:rPr lang="en-US" altLang="zh-CN" sz="1100" dirty="0">
                <a:latin typeface="Arial" panose="020B0604020202020204" pitchFamily="34" charset="0"/>
              </a:rPr>
              <a:t>('D:\\</a:t>
            </a:r>
            <a:r>
              <a:rPr lang="en-US" altLang="zh-CN" sz="1100" dirty="0" err="1">
                <a:latin typeface="Arial" panose="020B0604020202020204" pitchFamily="34" charset="0"/>
              </a:rPr>
              <a:t>steef</a:t>
            </a:r>
            <a:r>
              <a:rPr lang="en-US" altLang="zh-CN" sz="1100" dirty="0">
                <a:latin typeface="Arial" panose="020B0604020202020204" pitchFamily="34" charset="0"/>
              </a:rPr>
              <a:t>\\</a:t>
            </a:r>
            <a:r>
              <a:rPr lang="en-US" altLang="zh-CN" sz="1100" dirty="0" err="1">
                <a:latin typeface="Arial" panose="020B0604020202020204" pitchFamily="34" charset="0"/>
              </a:rPr>
              <a:t>steef</a:t>
            </a:r>
            <a:r>
              <a:rPr lang="en-US" altLang="zh-CN" sz="1100" dirty="0">
                <a:latin typeface="Arial" panose="020B0604020202020204" pitchFamily="34" charset="0"/>
              </a:rPr>
              <a:t>\\image001.PNG')</a:t>
            </a:r>
            <a:br>
              <a:rPr lang="en-US" altLang="zh-CN" sz="1100" dirty="0">
                <a:latin typeface="Arial" panose="020B0604020202020204" pitchFamily="34" charset="0"/>
              </a:rPr>
            </a:br>
            <a:r>
              <a:rPr lang="en-US" altLang="zh-CN" sz="1100" dirty="0" err="1">
                <a:latin typeface="Arial" panose="020B0604020202020204" pitchFamily="34" charset="0"/>
              </a:rPr>
              <a:t>Mail.Attachments.Add</a:t>
            </a:r>
            <a:r>
              <a:rPr lang="en-US" altLang="zh-CN" sz="1100" dirty="0">
                <a:latin typeface="Arial" panose="020B0604020202020204" pitchFamily="34" charset="0"/>
              </a:rPr>
              <a:t>('D:\\</a:t>
            </a:r>
            <a:r>
              <a:rPr lang="en-US" altLang="zh-CN" sz="1100" dirty="0" err="1">
                <a:latin typeface="Arial" panose="020B0604020202020204" pitchFamily="34" charset="0"/>
              </a:rPr>
              <a:t>steef</a:t>
            </a:r>
            <a:r>
              <a:rPr lang="en-US" altLang="zh-CN" sz="1100" dirty="0">
                <a:latin typeface="Arial" panose="020B0604020202020204" pitchFamily="34" charset="0"/>
              </a:rPr>
              <a:t>\\</a:t>
            </a:r>
            <a:r>
              <a:rPr lang="en-US" altLang="zh-CN" sz="1100" dirty="0" err="1">
                <a:latin typeface="Arial" panose="020B0604020202020204" pitchFamily="34" charset="0"/>
              </a:rPr>
              <a:t>steef</a:t>
            </a:r>
            <a:r>
              <a:rPr lang="en-US" altLang="zh-CN" sz="1100" dirty="0">
                <a:latin typeface="Arial" panose="020B0604020202020204" pitchFamily="34" charset="0"/>
              </a:rPr>
              <a:t>\\image002.PNG')</a:t>
            </a:r>
            <a:br>
              <a:rPr lang="en-US" altLang="zh-CN" sz="1100" dirty="0">
                <a:latin typeface="Arial" panose="020B0604020202020204" pitchFamily="34" charset="0"/>
              </a:rPr>
            </a:br>
            <a:r>
              <a:rPr lang="en-US" altLang="zh-CN" sz="1100" dirty="0" err="1">
                <a:latin typeface="Arial" panose="020B0604020202020204" pitchFamily="34" charset="0"/>
              </a:rPr>
              <a:t>Mail.HTMLBody</a:t>
            </a:r>
            <a:r>
              <a:rPr lang="en-US" altLang="zh-CN" sz="1100" dirty="0">
                <a:latin typeface="Arial" panose="020B0604020202020204" pitchFamily="34" charset="0"/>
              </a:rPr>
              <a:t>='&lt;p&gt;Dear &lt;span style="</a:t>
            </a:r>
            <a:r>
              <a:rPr lang="en-US" altLang="zh-CN" sz="1100" dirty="0" err="1">
                <a:latin typeface="Arial" panose="020B0604020202020204" pitchFamily="34" charset="0"/>
              </a:rPr>
              <a:t>background:red</a:t>
            </a:r>
            <a:r>
              <a:rPr lang="en-US" altLang="zh-CN" sz="1100" dirty="0">
                <a:latin typeface="Arial" panose="020B0604020202020204" pitchFamily="34" charset="0"/>
              </a:rPr>
              <a:t>;"&gt;Sir&lt;/span&gt;&lt;/p&gt;' \</a:t>
            </a:r>
            <a:br>
              <a:rPr lang="en-US" altLang="zh-CN" sz="1100" dirty="0">
                <a:latin typeface="Arial" panose="020B0604020202020204" pitchFamily="34" charset="0"/>
              </a:rPr>
            </a:br>
            <a:r>
              <a:rPr lang="en-US" altLang="zh-CN" sz="1100" dirty="0">
                <a:latin typeface="Arial" panose="020B0604020202020204" pitchFamily="34" charset="0"/>
              </a:rPr>
              <a:t>              '&lt;p&gt;&amp;</a:t>
            </a:r>
            <a:r>
              <a:rPr lang="en-US" altLang="zh-CN" sz="1100" dirty="0" err="1">
                <a:latin typeface="Arial" panose="020B0604020202020204" pitchFamily="34" charset="0"/>
              </a:rPr>
              <a:t>nbsp</a:t>
            </a:r>
            <a:r>
              <a:rPr lang="en-US" altLang="zh-CN" sz="1100" dirty="0">
                <a:latin typeface="Arial" panose="020B0604020202020204" pitchFamily="34" charset="0"/>
              </a:rPr>
              <a:t>;&amp;</a:t>
            </a:r>
            <a:r>
              <a:rPr lang="en-US" altLang="zh-CN" sz="1100" dirty="0" err="1">
                <a:latin typeface="Arial" panose="020B0604020202020204" pitchFamily="34" charset="0"/>
              </a:rPr>
              <a:t>nbsp</a:t>
            </a:r>
            <a:r>
              <a:rPr lang="en-US" altLang="zh-CN" sz="1100" dirty="0">
                <a:latin typeface="Arial" panose="020B0604020202020204" pitchFamily="34" charset="0"/>
              </a:rPr>
              <a:t>;&amp;</a:t>
            </a:r>
            <a:r>
              <a:rPr lang="en-US" altLang="zh-CN" sz="1100" dirty="0" err="1">
                <a:latin typeface="Arial" panose="020B0604020202020204" pitchFamily="34" charset="0"/>
              </a:rPr>
              <a:t>nbsp</a:t>
            </a:r>
            <a:r>
              <a:rPr lang="en-US" altLang="zh-CN" sz="1100" dirty="0">
                <a:latin typeface="Arial" panose="020B0604020202020204" pitchFamily="34" charset="0"/>
              </a:rPr>
              <a:t>;&amp;</a:t>
            </a:r>
            <a:r>
              <a:rPr lang="en-US" altLang="zh-CN" sz="1100" dirty="0" err="1">
                <a:latin typeface="Arial" panose="020B0604020202020204" pitchFamily="34" charset="0"/>
              </a:rPr>
              <a:t>nbsp</a:t>
            </a:r>
            <a:r>
              <a:rPr lang="en-US" altLang="zh-CN" sz="1100" dirty="0">
                <a:latin typeface="Arial" panose="020B0604020202020204" pitchFamily="34" charset="0"/>
              </a:rPr>
              <a:t>;</a:t>
            </a:r>
            <a:r>
              <a:rPr lang="zh-CN" altLang="en-US" sz="1100" dirty="0">
                <a:latin typeface="Arial" panose="020B0604020202020204" pitchFamily="34" charset="0"/>
              </a:rPr>
              <a:t>资料如附件</a:t>
            </a:r>
            <a:r>
              <a:rPr lang="en-US" altLang="zh-CN" sz="1100" dirty="0">
                <a:latin typeface="Arial" panose="020B0604020202020204" pitchFamily="34" charset="0"/>
              </a:rPr>
              <a:t>.&lt;/p&gt;&lt;</a:t>
            </a:r>
            <a:r>
              <a:rPr lang="en-US" altLang="zh-CN" sz="1100" dirty="0" err="1">
                <a:latin typeface="Arial" panose="020B0604020202020204" pitchFamily="34" charset="0"/>
              </a:rPr>
              <a:t>img</a:t>
            </a:r>
            <a:r>
              <a:rPr lang="en-US" altLang="zh-CN" sz="1100" dirty="0">
                <a:latin typeface="Arial" panose="020B0604020202020204" pitchFamily="34" charset="0"/>
              </a:rPr>
              <a:t> </a:t>
            </a:r>
            <a:r>
              <a:rPr lang="en-US" altLang="zh-CN" sz="1100" dirty="0" err="1">
                <a:latin typeface="Arial" panose="020B0604020202020204" pitchFamily="34" charset="0"/>
              </a:rPr>
              <a:t>src</a:t>
            </a:r>
            <a:r>
              <a:rPr lang="en-US" altLang="zh-CN" sz="1100" dirty="0">
                <a:latin typeface="Arial" panose="020B0604020202020204" pitchFamily="34" charset="0"/>
              </a:rPr>
              <a:t>="image001.PNG" ' \</a:t>
            </a:r>
            <a:br>
              <a:rPr lang="en-US" altLang="zh-CN" sz="1100" dirty="0">
                <a:latin typeface="Arial" panose="020B0604020202020204" pitchFamily="34" charset="0"/>
              </a:rPr>
            </a:br>
            <a:r>
              <a:rPr lang="en-US" altLang="zh-CN" sz="1100" dirty="0">
                <a:latin typeface="Arial" panose="020B0604020202020204" pitchFamily="34" charset="0"/>
              </a:rPr>
              <a:t>              'width="400" height="200"&gt;&lt;</a:t>
            </a:r>
            <a:r>
              <a:rPr lang="en-US" altLang="zh-CN" sz="1100" dirty="0" err="1">
                <a:latin typeface="Arial" panose="020B0604020202020204" pitchFamily="34" charset="0"/>
              </a:rPr>
              <a:t>br</a:t>
            </a:r>
            <a:r>
              <a:rPr lang="en-US" altLang="zh-CN" sz="1100" dirty="0">
                <a:latin typeface="Arial" panose="020B0604020202020204" pitchFamily="34" charset="0"/>
              </a:rPr>
              <a:t>&gt;&lt;</a:t>
            </a:r>
            <a:r>
              <a:rPr lang="en-US" altLang="zh-CN" sz="1100" dirty="0" err="1">
                <a:latin typeface="Arial" panose="020B0604020202020204" pitchFamily="34" charset="0"/>
              </a:rPr>
              <a:t>br</a:t>
            </a:r>
            <a:r>
              <a:rPr lang="en-US" altLang="zh-CN" sz="1100" dirty="0">
                <a:latin typeface="Arial" panose="020B0604020202020204" pitchFamily="34" charset="0"/>
              </a:rPr>
              <a:t>&gt;SAP&lt;</a:t>
            </a:r>
            <a:r>
              <a:rPr lang="en-US" altLang="zh-CN" sz="1100" dirty="0" err="1">
                <a:latin typeface="Arial" panose="020B0604020202020204" pitchFamily="34" charset="0"/>
              </a:rPr>
              <a:t>br</a:t>
            </a:r>
            <a:r>
              <a:rPr lang="en-US" altLang="zh-CN" sz="1100" dirty="0">
                <a:latin typeface="Arial" panose="020B0604020202020204" pitchFamily="34" charset="0"/>
              </a:rPr>
              <a:t>&gt;66097'</a:t>
            </a:r>
            <a:br>
              <a:rPr lang="en-US" altLang="zh-CN" sz="1100" dirty="0">
                <a:latin typeface="Arial" panose="020B0604020202020204" pitchFamily="34" charset="0"/>
              </a:rPr>
            </a:br>
            <a:r>
              <a:rPr lang="en-US" altLang="zh-CN" sz="1100" dirty="0" err="1">
                <a:latin typeface="Arial" panose="020B0604020202020204" pitchFamily="34" charset="0"/>
              </a:rPr>
              <a:t>Mail.Display</a:t>
            </a:r>
            <a:r>
              <a:rPr lang="en-US" altLang="zh-CN" sz="1100" dirty="0">
                <a:latin typeface="Arial" panose="020B0604020202020204" pitchFamily="34" charset="0"/>
              </a:rPr>
              <a:t>()</a:t>
            </a:r>
            <a:br>
              <a:rPr lang="en-US" altLang="zh-CN" sz="1100" dirty="0">
                <a:latin typeface="Arial" panose="020B0604020202020204" pitchFamily="34" charset="0"/>
              </a:rPr>
            </a:br>
            <a:r>
              <a:rPr lang="en-US" altLang="zh-CN" sz="1100" dirty="0" err="1">
                <a:latin typeface="Arial" panose="020B0604020202020204" pitchFamily="34" charset="0"/>
              </a:rPr>
              <a:t>Mail.Send</a:t>
            </a:r>
            <a:r>
              <a:rPr lang="en-US" altLang="zh-CN" sz="1100" dirty="0">
                <a:latin typeface="Arial" panose="020B0604020202020204" pitchFamily="34" charset="0"/>
              </a:rPr>
              <a:t>()</a:t>
            </a:r>
          </a:p>
        </p:txBody>
      </p:sp>
      <p:sp>
        <p:nvSpPr>
          <p:cNvPr id="2" name="文字方塊 1"/>
          <p:cNvSpPr txBox="1"/>
          <p:nvPr/>
        </p:nvSpPr>
        <p:spPr>
          <a:xfrm>
            <a:off x="64982" y="134607"/>
            <a:ext cx="1833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Python</a:t>
            </a:r>
            <a:r>
              <a:rPr lang="zh-CN" altLang="en-US" dirty="0" smtClean="0">
                <a:solidFill>
                  <a:schemeClr val="bg1"/>
                </a:solidFill>
              </a:rPr>
              <a:t>教材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6947807" y="320272"/>
            <a:ext cx="1156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bg1"/>
                </a:solidFill>
              </a:rPr>
              <a:t>新建邮件</a:t>
            </a:r>
            <a:endParaRPr lang="zh-TW" altLang="en-US" dirty="0">
              <a:solidFill>
                <a:schemeClr val="bg1"/>
              </a:solidFill>
            </a:endParaRP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640" y="2140948"/>
            <a:ext cx="8263789" cy="3778919"/>
          </a:xfrm>
          <a:prstGeom prst="rect">
            <a:avLst/>
          </a:prstGeom>
        </p:spPr>
      </p:pic>
      <p:sp>
        <p:nvSpPr>
          <p:cNvPr id="8" name="文字方塊 7"/>
          <p:cNvSpPr txBox="1"/>
          <p:nvPr/>
        </p:nvSpPr>
        <p:spPr>
          <a:xfrm>
            <a:off x="2661122" y="1318221"/>
            <a:ext cx="39036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/>
              <a:t>新建邮件：</a:t>
            </a:r>
            <a:r>
              <a:rPr lang="en-US" altLang="zh-CN" sz="2400" dirty="0" err="1" smtClean="0"/>
              <a:t>CreateItem</a:t>
            </a:r>
            <a:r>
              <a:rPr lang="zh-CN" altLang="en-US" sz="2400" dirty="0" smtClean="0"/>
              <a:t>（）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7338054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64982" y="134607"/>
            <a:ext cx="1457470" cy="371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HTML</a:t>
            </a:r>
            <a:r>
              <a:rPr lang="zh-CN" altLang="en-US" dirty="0" smtClean="0">
                <a:solidFill>
                  <a:schemeClr val="bg1"/>
                </a:solidFill>
              </a:rPr>
              <a:t>教材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6694004" y="320272"/>
            <a:ext cx="1896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Thank   you</a:t>
            </a:r>
            <a:endParaRPr lang="zh-TW" altLang="en-US" b="1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4" name="文字方塊 3"/>
          <p:cNvSpPr txBox="1"/>
          <p:nvPr/>
        </p:nvSpPr>
        <p:spPr>
          <a:xfrm rot="1333652">
            <a:off x="248478" y="2698474"/>
            <a:ext cx="8602317" cy="213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5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Thank   you</a:t>
            </a:r>
            <a:endParaRPr lang="zh-TW" altLang="en-US" sz="11500" b="1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7560035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custom"/>
  <p:tag name="KSO_WM_TEMPLATE_INDEX" val="2018455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custom"/>
  <p:tag name="KSO_WM_TEMPLATE_INDEX" val="2018455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BEAUTIFY_FLAG" val="#wm#"/>
  <p:tag name="KSO_WM_TAG_VERSION" val="1.0"/>
  <p:tag name="KSO_WM_TEMPLATE_INDEX" val="20184553"/>
  <p:tag name="KSO_WM_TEMPLATE_CATEGORY" val="custom"/>
  <p:tag name="KSO_WM_TEMPLATE_THUMBS_INDEX" val="1、6、10、14、20、26、27、28、29、3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custom"/>
  <p:tag name="KSO_WM_TEMPLATE_INDEX" val="2018455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custom"/>
  <p:tag name="KSO_WM_TEMPLATE_INDEX" val="2018455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BEAUTIFY_FLAG" val="#wm#"/>
  <p:tag name="KSO_WM_TAG_VERSION" val="1.0"/>
  <p:tag name="KSO_WM_TEMPLATE_INDEX" val="20184553"/>
  <p:tag name="KSO_WM_TEMPLATE_CATEGORY" val="custom"/>
  <p:tag name="KSO_WM_TEMPLATE_THUMBS_INDEX" val="1、6、10、14、20、26、27、28、29、3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custom"/>
  <p:tag name="KSO_WM_TEMPLATE_INDEX" val="2018455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custom"/>
  <p:tag name="KSO_WM_TEMPLATE_INDEX" val="2018455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BEAUTIFY_FLAG" val="#wm#"/>
  <p:tag name="KSO_WM_TAG_VERSION" val="1.0"/>
  <p:tag name="KSO_WM_TEMPLATE_INDEX" val="20184553"/>
  <p:tag name="KSO_WM_TEMPLATE_CATEGORY" val="custom"/>
  <p:tag name="KSO_WM_TEMPLATE_THUMBS_INDEX" val="1、6、10、14、20、26、27、28、29、3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custom"/>
  <p:tag name="KSO_WM_TEMPLATE_INDEX" val="2018455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custom"/>
  <p:tag name="KSO_WM_TEMPLATE_INDEX" val="20184553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BEAUTIFY_FLAG" val="#wm#"/>
  <p:tag name="KSO_WM_TAG_VERSION" val="1.0"/>
  <p:tag name="KSO_WM_TEMPLATE_INDEX" val="20184553"/>
  <p:tag name="KSO_WM_TEMPLATE_CATEGORY" val="custom"/>
  <p:tag name="KSO_WM_TEMPLATE_THUMBS_INDEX" val="1、6、10、14、20、26、27、28、29、31"/>
</p:tagLst>
</file>

<file path=ppt/theme/theme1.xml><?xml version="1.0" encoding="utf-8"?>
<a:theme xmlns:a="http://schemas.openxmlformats.org/drawingml/2006/main" name="Office 主题">
  <a:themeElements>
    <a:clrScheme name="自定义 214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">
  <a:themeElements>
    <a:clrScheme name="自定义 214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主题">
  <a:themeElements>
    <a:clrScheme name="自定义 214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Office 主题">
  <a:themeElements>
    <a:clrScheme name="自定义 214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427</Words>
  <Application>Microsoft Office PowerPoint</Application>
  <PresentationFormat>如螢幕大小 (4:3)</PresentationFormat>
  <Paragraphs>94</Paragraphs>
  <Slides>11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4</vt:i4>
      </vt:variant>
      <vt:variant>
        <vt:lpstr>投影片標題</vt:lpstr>
      </vt:variant>
      <vt:variant>
        <vt:i4>11</vt:i4>
      </vt:variant>
    </vt:vector>
  </HeadingPairs>
  <TitlesOfParts>
    <vt:vector size="25" baseType="lpstr">
      <vt:lpstr>Arial Unicode MS</vt:lpstr>
      <vt:lpstr>JetBrains Mono</vt:lpstr>
      <vt:lpstr>Microsoft YaHei</vt:lpstr>
      <vt:lpstr>Microsoft YaHei</vt:lpstr>
      <vt:lpstr>SimHei</vt:lpstr>
      <vt:lpstr>宋体</vt:lpstr>
      <vt:lpstr>新細明體</vt:lpstr>
      <vt:lpstr>Arial</vt:lpstr>
      <vt:lpstr>Calibri</vt:lpstr>
      <vt:lpstr>Courier New</vt:lpstr>
      <vt:lpstr>Office 主题</vt:lpstr>
      <vt:lpstr>2_Office 主题</vt:lpstr>
      <vt:lpstr>3_Office 主题</vt:lpstr>
      <vt:lpstr>4_Office 主题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111</cp:revision>
  <dcterms:created xsi:type="dcterms:W3CDTF">2018-03-01T02:03:00Z</dcterms:created>
  <dcterms:modified xsi:type="dcterms:W3CDTF">2025-07-30T09:16:56Z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1028-10.8.0.6228</vt:lpwstr>
  </property>
</Properties>
</file>